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59"/>
  </p:notesMasterIdLst>
  <p:sldIdLst>
    <p:sldId id="435" r:id="rId2"/>
    <p:sldId id="439" r:id="rId3"/>
    <p:sldId id="440" r:id="rId4"/>
    <p:sldId id="441" r:id="rId5"/>
    <p:sldId id="442" r:id="rId6"/>
    <p:sldId id="443" r:id="rId7"/>
    <p:sldId id="444" r:id="rId8"/>
    <p:sldId id="445" r:id="rId9"/>
    <p:sldId id="446" r:id="rId10"/>
    <p:sldId id="449" r:id="rId11"/>
    <p:sldId id="501" r:id="rId12"/>
    <p:sldId id="448" r:id="rId13"/>
    <p:sldId id="502" r:id="rId14"/>
    <p:sldId id="450" r:id="rId15"/>
    <p:sldId id="451" r:id="rId16"/>
    <p:sldId id="447" r:id="rId17"/>
    <p:sldId id="452" r:id="rId18"/>
    <p:sldId id="454" r:id="rId19"/>
    <p:sldId id="464" r:id="rId20"/>
    <p:sldId id="458" r:id="rId21"/>
    <p:sldId id="474" r:id="rId22"/>
    <p:sldId id="456" r:id="rId23"/>
    <p:sldId id="460" r:id="rId24"/>
    <p:sldId id="462" r:id="rId25"/>
    <p:sldId id="463" r:id="rId26"/>
    <p:sldId id="465" r:id="rId27"/>
    <p:sldId id="466" r:id="rId28"/>
    <p:sldId id="467" r:id="rId29"/>
    <p:sldId id="469" r:id="rId30"/>
    <p:sldId id="470" r:id="rId31"/>
    <p:sldId id="471" r:id="rId32"/>
    <p:sldId id="472" r:id="rId33"/>
    <p:sldId id="475" r:id="rId34"/>
    <p:sldId id="476" r:id="rId35"/>
    <p:sldId id="477" r:id="rId36"/>
    <p:sldId id="478" r:id="rId37"/>
    <p:sldId id="479" r:id="rId38"/>
    <p:sldId id="480" r:id="rId39"/>
    <p:sldId id="481" r:id="rId40"/>
    <p:sldId id="483" r:id="rId41"/>
    <p:sldId id="484" r:id="rId42"/>
    <p:sldId id="485" r:id="rId43"/>
    <p:sldId id="486" r:id="rId44"/>
    <p:sldId id="487" r:id="rId45"/>
    <p:sldId id="488" r:id="rId46"/>
    <p:sldId id="489" r:id="rId47"/>
    <p:sldId id="490" r:id="rId48"/>
    <p:sldId id="491" r:id="rId49"/>
    <p:sldId id="492" r:id="rId50"/>
    <p:sldId id="493" r:id="rId51"/>
    <p:sldId id="494" r:id="rId52"/>
    <p:sldId id="495" r:id="rId53"/>
    <p:sldId id="496" r:id="rId54"/>
    <p:sldId id="497" r:id="rId55"/>
    <p:sldId id="499" r:id="rId56"/>
    <p:sldId id="500" r:id="rId57"/>
    <p:sldId id="473" r:id="rId58"/>
  </p:sldIdLst>
  <p:sldSz cx="9144000" cy="6858000" type="screen4x3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i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i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i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i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i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91"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7" autoAdjust="0"/>
    <p:restoredTop sz="77021" autoAdjust="0"/>
  </p:normalViewPr>
  <p:slideViewPr>
    <p:cSldViewPr>
      <p:cViewPr varScale="1">
        <p:scale>
          <a:sx n="88" d="100"/>
          <a:sy n="88" d="100"/>
        </p:scale>
        <p:origin x="-23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B6DE271-D0D1-4761-AC60-BBDC310FA750}" type="datetimeFigureOut">
              <a:rPr lang="en-US"/>
              <a:pPr>
                <a:defRPr/>
              </a:pPr>
              <a:t>06-Jan-26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10075"/>
            <a:ext cx="5588000" cy="4176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7F5BAE9-655D-43C0-A436-818EB23734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45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5356D11-A64C-421E-88C5-2068C12FB563}" type="slidenum">
              <a:rPr lang="en-US" smtClean="0"/>
              <a:pPr eaLnBrk="1" hangingPunct="1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Font typeface="Calibri" pitchFamily="34" charset="0"/>
              <a:buAutoNum type="arabicPeriod"/>
            </a:pPr>
            <a:r>
              <a:rPr lang="en-US"/>
              <a:t>The function IMPORTANCE is described later.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/>
              <a:t>The function PLURALITY-VALUE selects the most common output value among a set of examples, breaking ties randomly.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E5017D5-3058-4F5C-A2A6-0CBF6DFF80A2}" type="slidenum">
              <a:rPr lang="en-US" smtClean="0"/>
              <a:pPr eaLnBrk="1" hangingPunct="1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Font typeface="Calibri" pitchFamily="34" charset="0"/>
              <a:buAutoNum type="arabicPeriod"/>
            </a:pPr>
            <a:r>
              <a:rPr lang="en-US"/>
              <a:t>The tree is different than the tree depicted some slides back.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/>
              <a:t>The learnt hypothesis is not only consistent with all the examples, but is considerably simpler than the original tree!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ED2BDED-23C1-4657-8DC3-E6597E27BFD5}" type="slidenum">
              <a:rPr lang="en-US" smtClean="0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Font typeface="Calibri" pitchFamily="34" charset="0"/>
              <a:buAutoNum type="arabicPeriod"/>
            </a:pPr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AF49878-2C32-47F3-A830-D8441B06A2BF}" type="slidenum">
              <a:rPr lang="en-US" smtClean="0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Review section 19.3.5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1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Review section 19.3.5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66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Review section 19.3.5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33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Weighted training set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Generate K hypotheses, where K is a hyper parameter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Examples that are difficult to classify will get increasingly larger weights until the algorithm is forced to create a hypothesis that classifies them correctly.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This is a greedy algorithm in the sense that it does not backtrack</a:t>
            </a:r>
          </a:p>
          <a:p>
            <a:pPr marL="685800" lvl="1" indent="-228600">
              <a:buFont typeface="Calibri" pitchFamily="34" charset="0"/>
              <a:buAutoNum type="arabicPeriod"/>
            </a:pPr>
            <a:r>
              <a:rPr lang="en-US" dirty="0"/>
              <a:t>Once it has chosen a hypothesis it will never undo that choice; rather it will add new hypotheses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It is also a sequential algorithm, so we can’t compute all the hypotheses in parallel as we could with bagging.</a:t>
            </a:r>
          </a:p>
          <a:p>
            <a:pPr marL="228600" indent="-228600">
              <a:buFont typeface="Calibri" pitchFamily="34" charset="0"/>
              <a:buAutoNum type="arabicPeriod"/>
            </a:pPr>
            <a:r>
              <a:rPr lang="en-US" dirty="0"/>
              <a:t>Ensemble model = Weighted voting of base models </a:t>
            </a:r>
          </a:p>
          <a:p>
            <a:pPr marL="228600" indent="-228600">
              <a:buFont typeface="Calibri" pitchFamily="34" charset="0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71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this example we are only allowing 4 leaves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50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this example we are only allowing 4 leaves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50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91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In this example, we are limiting</a:t>
            </a:r>
            <a:r>
              <a:rPr lang="en-US" baseline="0" dirty="0"/>
              <a:t> the number of leaves to 3</a:t>
            </a:r>
          </a:p>
          <a:p>
            <a:pPr marL="228600" indent="-228600">
              <a:buFont typeface="+mj-lt"/>
              <a:buAutoNum type="arabicPeriod"/>
            </a:pPr>
            <a:r>
              <a:rPr lang="en-US" baseline="0" dirty="0"/>
              <a:t>This limit is between 8 to 32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75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0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38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Taylor series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F5BAE9-655D-43C0-A436-818EB23734AE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91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D58B6F9-6308-46BE-8049-2B23D8ABEC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30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4F42D-E2EC-44E5-B6E9-FEC090D6D2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459383A-58D5-4336-A7D8-2D13E143C2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32015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0517296-B6E9-431D-AA4F-53710BFE0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67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8EDD00F-5D3D-45F2-86CD-D4AC9D09C5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391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A9EF-BC02-4A0F-839F-0A629A9C00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13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BD7B92E-C793-464C-B83F-B17F0A98D4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10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76B4B-FB25-4D0E-837E-31D26FB4C4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58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F9AF8D48-2F51-4CB9-AB49-687E8D8556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865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E21EDF-F4C9-4B3F-9FE6-63BAC55BFB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09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75C15-F936-4B9E-B312-437E61AEF7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7829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D068C87-13E3-406A-A3C3-5A3763529F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16" r:id="rId2"/>
    <p:sldLayoutId id="2147484021" r:id="rId3"/>
    <p:sldLayoutId id="2147484022" r:id="rId4"/>
    <p:sldLayoutId id="2147484023" r:id="rId5"/>
    <p:sldLayoutId id="2147484017" r:id="rId6"/>
    <p:sldLayoutId id="2147484024" r:id="rId7"/>
    <p:sldLayoutId id="2147484018" r:id="rId8"/>
    <p:sldLayoutId id="2147484025" r:id="rId9"/>
    <p:sldLayoutId id="2147484019" r:id="rId10"/>
    <p:sldLayoutId id="21474840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xuNLH5dXCs" TargetMode="External"/><Relationship Id="rId2" Type="http://schemas.openxmlformats.org/officeDocument/2006/relationships/hyperlink" Target="https://www.youtube.com/watch?v=3CC4N4z3GJ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tWY5QWMXCw&amp;t=837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2057400"/>
            <a:ext cx="6477000" cy="3810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500" dirty="0">
                <a:solidFill>
                  <a:srgbClr val="EBDDC3"/>
                </a:solidFill>
              </a:rPr>
              <a:t>CSE 471: Machine learning</a:t>
            </a:r>
            <a:endParaRPr lang="en-US" sz="2800" i="1" dirty="0"/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eaLnBrk="1" hangingPunct="1"/>
            <a:r>
              <a:rPr lang="en-US" sz="2400" b="1"/>
              <a:t>Decision Trees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Example: Will we wait for a table?</a:t>
            </a: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005013"/>
            <a:ext cx="7715250" cy="4167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Will we wait for a table?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900238"/>
            <a:ext cx="8943975" cy="427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Will we wait for a table?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28775"/>
            <a:ext cx="7458075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How to select the best attribute?</a:t>
            </a: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05000"/>
            <a:ext cx="8982075" cy="416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Decision tree algorithm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0725"/>
            <a:ext cx="9134475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The resulting tree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600200"/>
            <a:ext cx="8291512" cy="51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Decision Tree Pruning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dirty="0"/>
              <a:t>Reduce </a:t>
            </a:r>
            <a:r>
              <a:rPr lang="en-US" dirty="0" err="1"/>
              <a:t>overfitting</a:t>
            </a:r>
            <a:endParaRPr lang="en-US" dirty="0"/>
          </a:p>
          <a:p>
            <a:pPr lvl="1"/>
            <a:r>
              <a:rPr lang="en-US" dirty="0"/>
              <a:t>Start with the full tree</a:t>
            </a:r>
          </a:p>
          <a:p>
            <a:pPr lvl="1"/>
            <a:r>
              <a:rPr lang="en-US" dirty="0"/>
              <a:t>Find a test node that has only leaf nodes as descendants</a:t>
            </a:r>
          </a:p>
          <a:p>
            <a:pPr lvl="1"/>
            <a:r>
              <a:rPr lang="en-US" dirty="0"/>
              <a:t>If the test appears to be irrelevant</a:t>
            </a:r>
          </a:p>
          <a:p>
            <a:pPr lvl="2"/>
            <a:r>
              <a:rPr lang="en-US" dirty="0"/>
              <a:t>Detects only noise in the data</a:t>
            </a:r>
          </a:p>
          <a:p>
            <a:pPr lvl="2"/>
            <a:r>
              <a:rPr lang="en-US" dirty="0"/>
              <a:t>Eliminate</a:t>
            </a:r>
          </a:p>
          <a:p>
            <a:pPr lvl="2"/>
            <a:r>
              <a:rPr lang="en-US" dirty="0"/>
              <a:t>Replace with a leaf node</a:t>
            </a:r>
          </a:p>
          <a:p>
            <a:pPr lvl="1"/>
            <a:r>
              <a:rPr lang="en-US" dirty="0"/>
              <a:t>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Irrelevant Test Detection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/>
              <a:t>Low information gain</a:t>
            </a:r>
          </a:p>
          <a:p>
            <a:pPr lvl="1"/>
            <a:r>
              <a:rPr lang="en-US"/>
              <a:t>What is the threshold?</a:t>
            </a:r>
          </a:p>
          <a:p>
            <a:pPr lvl="2"/>
            <a:r>
              <a:rPr lang="en-US"/>
              <a:t>Statistical Significance Test</a:t>
            </a:r>
          </a:p>
          <a:p>
            <a:r>
              <a:rPr lang="en-US"/>
              <a:t>Let v = n + p be the sample size</a:t>
            </a:r>
          </a:p>
          <a:p>
            <a:r>
              <a:rPr lang="en-US"/>
              <a:t>p</a:t>
            </a:r>
            <a:r>
              <a:rPr lang="en-US" baseline="-25000"/>
              <a:t>k</a:t>
            </a:r>
            <a:r>
              <a:rPr lang="en-US"/>
              <a:t> , n</a:t>
            </a:r>
            <a:r>
              <a:rPr lang="en-US" baseline="-25000"/>
              <a:t>k</a:t>
            </a:r>
            <a:r>
              <a:rPr lang="en-US"/>
              <a:t> – Positive and negative sample count in k-th subset</a:t>
            </a:r>
          </a:p>
          <a:p>
            <a:r>
              <a:rPr lang="en-US"/>
              <a:t>In case of irrelevant attribute, the expected sample counts are: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5486400"/>
            <a:ext cx="5734050" cy="800100"/>
          </a:xfrm>
          <a:prstGeom prst="rect">
            <a:avLst/>
          </a:prstGeom>
          <a:noFill/>
          <a:ln w="1587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chi-squred 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2819400"/>
            <a:ext cx="8153400" cy="350520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/>
              <a:t>Distributed according to the chi-</a:t>
            </a:r>
            <a:r>
              <a:rPr lang="en-US" dirty="0" err="1"/>
              <a:t>squred</a:t>
            </a:r>
            <a:r>
              <a:rPr lang="en-US" dirty="0"/>
              <a:t> distribution with d-1 degree of freedom</a:t>
            </a:r>
          </a:p>
          <a:p>
            <a:pPr>
              <a:defRPr/>
            </a:pPr>
            <a:r>
              <a:rPr lang="en-US" dirty="0"/>
              <a:t>Consider the restaurant Type attribute, </a:t>
            </a:r>
          </a:p>
          <a:p>
            <a:pPr lvl="1">
              <a:defRPr/>
            </a:pPr>
            <a:r>
              <a:rPr lang="en-US" dirty="0"/>
              <a:t>Four values</a:t>
            </a:r>
          </a:p>
          <a:p>
            <a:pPr lvl="1">
              <a:defRPr/>
            </a:pPr>
            <a:r>
              <a:rPr lang="en-US" dirty="0"/>
              <a:t>Three degrees of freedom</a:t>
            </a:r>
          </a:p>
          <a:p>
            <a:pPr lvl="1">
              <a:defRPr/>
            </a:pPr>
            <a:r>
              <a:rPr lang="en-US" dirty="0"/>
              <a:t>A value of </a:t>
            </a:r>
            <a:r>
              <a:rPr lang="en-US" dirty="0" smtClean="0"/>
              <a:t>d=7.82 </a:t>
            </a:r>
            <a:r>
              <a:rPr lang="en-US" dirty="0"/>
              <a:t>or more would reject the null hypothesis at the 5% level </a:t>
            </a:r>
          </a:p>
          <a:p>
            <a:pPr lvl="1">
              <a:defRPr/>
            </a:pPr>
            <a:r>
              <a:rPr lang="en-US" dirty="0"/>
              <a:t>A value of </a:t>
            </a:r>
            <a:r>
              <a:rPr lang="en-US" dirty="0" smtClean="0"/>
              <a:t>d=11.35 </a:t>
            </a:r>
            <a:r>
              <a:rPr lang="en-US" dirty="0"/>
              <a:t>or more would reject at the 1% level. </a:t>
            </a:r>
          </a:p>
          <a:p>
            <a:pPr>
              <a:defRPr/>
            </a:pPr>
            <a:r>
              <a:rPr lang="en-US" dirty="0"/>
              <a:t>Values below that lead to accepting the null hypothesis</a:t>
            </a:r>
          </a:p>
          <a:p>
            <a:pPr lvl="1">
              <a:defRPr/>
            </a:pPr>
            <a:r>
              <a:rPr lang="en-US" dirty="0"/>
              <a:t>The attribute is irrelevant, </a:t>
            </a:r>
          </a:p>
          <a:p>
            <a:pPr lvl="1">
              <a:defRPr/>
            </a:pPr>
            <a:r>
              <a:rPr lang="en-US" dirty="0"/>
              <a:t>The associated branch of the tree should be pruned away.</a:t>
            </a:r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1752600"/>
            <a:ext cx="4200525" cy="95250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695325" y="1447800"/>
            <a:ext cx="3800475" cy="16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/>
              <a:t>Total Deviation </a:t>
            </a:r>
          </a:p>
          <a:p>
            <a:pPr algn="ctr">
              <a:defRPr/>
            </a:pPr>
            <a:r>
              <a:rPr lang="en-US" sz="2000" dirty="0"/>
              <a:t>(From lack of pattern)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Chi-square distribution table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802746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053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dirty="0"/>
              <a:t>Early stopping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/>
              <a:t>Stop generating nodes when there is no good attribute to split on</a:t>
            </a:r>
          </a:p>
          <a:p>
            <a:r>
              <a:rPr lang="en-US"/>
              <a:t>Problem – Fails when </a:t>
            </a:r>
          </a:p>
          <a:p>
            <a:pPr lvl="1"/>
            <a:r>
              <a:rPr lang="en-US"/>
              <a:t>No one good attribute, but</a:t>
            </a:r>
          </a:p>
          <a:p>
            <a:pPr lvl="1"/>
            <a:r>
              <a:rPr lang="en-US"/>
              <a:t>Combination of attributes that is informative</a:t>
            </a:r>
          </a:p>
          <a:p>
            <a:r>
              <a:rPr lang="en-US"/>
              <a:t>This is why we want to generate the full tree first, then prune.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stopping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693152" cy="3924300"/>
          </a:xfrm>
        </p:spPr>
        <p:txBody>
          <a:bodyPr/>
          <a:lstStyle/>
          <a:p>
            <a:r>
              <a:rPr lang="en-US" sz="2400" dirty="0" smtClean="0"/>
              <a:t>Consider data generated by XOR function</a:t>
            </a:r>
          </a:p>
          <a:p>
            <a:r>
              <a:rPr lang="en-US" sz="2400" dirty="0" smtClean="0"/>
              <a:t>Roughly same number of samples for each combination of inputs</a:t>
            </a:r>
          </a:p>
          <a:p>
            <a:r>
              <a:rPr lang="en-US" sz="2400" dirty="0" smtClean="0"/>
              <a:t>Splitting by X (or Y) gives no information gain</a:t>
            </a:r>
          </a:p>
          <a:p>
            <a:pPr lvl="1"/>
            <a:r>
              <a:rPr lang="en-US" sz="2000" dirty="0" smtClean="0"/>
              <a:t>P = 6, N = 6 in original data</a:t>
            </a:r>
          </a:p>
          <a:p>
            <a:pPr lvl="1"/>
            <a:r>
              <a:rPr lang="en-US" sz="2000" dirty="0" smtClean="0"/>
              <a:t>After splitting on X=0</a:t>
            </a:r>
          </a:p>
          <a:p>
            <a:pPr lvl="2"/>
            <a:r>
              <a:rPr lang="en-US" sz="1800" dirty="0" smtClean="0"/>
              <a:t>P=3, N=3 [No information gain]</a:t>
            </a:r>
          </a:p>
          <a:p>
            <a:pPr lvl="2"/>
            <a:r>
              <a:rPr lang="en-US" sz="1800" dirty="0" smtClean="0"/>
              <a:t>Now split on Y=0 gives the result</a:t>
            </a: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544356"/>
              </p:ext>
            </p:extLst>
          </p:nvPr>
        </p:nvGraphicFramePr>
        <p:xfrm>
          <a:off x="8382000" y="1752600"/>
          <a:ext cx="647701" cy="2781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147"/>
                <a:gridCol w="214277"/>
                <a:gridCol w="214277"/>
              </a:tblGrid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39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106737"/>
              </p:ext>
            </p:extLst>
          </p:nvPr>
        </p:nvGraphicFramePr>
        <p:xfrm>
          <a:off x="8458200" y="5181600"/>
          <a:ext cx="571501" cy="1485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65"/>
                <a:gridCol w="189068"/>
                <a:gridCol w="189068"/>
              </a:tblGrid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X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122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99747" y="4724400"/>
            <a:ext cx="1010653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X=0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42547" y="5334000"/>
            <a:ext cx="705854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Y=0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70030" y="5334000"/>
            <a:ext cx="652379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Y=0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57800" y="5943600"/>
            <a:ext cx="609600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NO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0" y="5943600"/>
            <a:ext cx="597569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YES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41430" y="5943600"/>
            <a:ext cx="513347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YES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51030" y="5943600"/>
            <a:ext cx="521370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NO</a:t>
            </a:r>
            <a:endParaRPr lang="en-US" sz="1100" i="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 flipH="1">
            <a:off x="5895474" y="5029200"/>
            <a:ext cx="6096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2"/>
            <a:endCxn id="8" idx="0"/>
          </p:cNvCxnSpPr>
          <p:nvPr/>
        </p:nvCxnSpPr>
        <p:spPr>
          <a:xfrm>
            <a:off x="6505074" y="5029200"/>
            <a:ext cx="691146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2"/>
            <a:endCxn id="9" idx="0"/>
          </p:cNvCxnSpPr>
          <p:nvPr/>
        </p:nvCxnSpPr>
        <p:spPr>
          <a:xfrm flipH="1">
            <a:off x="5562600" y="5638800"/>
            <a:ext cx="332874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10" idx="0"/>
          </p:cNvCxnSpPr>
          <p:nvPr/>
        </p:nvCxnSpPr>
        <p:spPr>
          <a:xfrm>
            <a:off x="5895474" y="5638800"/>
            <a:ext cx="346911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1" idx="0"/>
          </p:cNvCxnSpPr>
          <p:nvPr/>
        </p:nvCxnSpPr>
        <p:spPr>
          <a:xfrm flipH="1">
            <a:off x="6898104" y="5638800"/>
            <a:ext cx="298116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2"/>
            <a:endCxn id="12" idx="0"/>
          </p:cNvCxnSpPr>
          <p:nvPr/>
        </p:nvCxnSpPr>
        <p:spPr>
          <a:xfrm>
            <a:off x="7196220" y="5638800"/>
            <a:ext cx="315495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3400" y="5181600"/>
            <a:ext cx="1010653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X=0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6200" y="5791200"/>
            <a:ext cx="914400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P=3, N=3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403683" y="5791200"/>
            <a:ext cx="958517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P=3, N=3</a:t>
            </a:r>
            <a:endParaRPr lang="en-US" sz="1100" i="0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4" idx="2"/>
            <a:endCxn id="35" idx="0"/>
          </p:cNvCxnSpPr>
          <p:nvPr/>
        </p:nvCxnSpPr>
        <p:spPr>
          <a:xfrm flipH="1">
            <a:off x="533400" y="5486400"/>
            <a:ext cx="505327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4" idx="2"/>
            <a:endCxn id="36" idx="0"/>
          </p:cNvCxnSpPr>
          <p:nvPr/>
        </p:nvCxnSpPr>
        <p:spPr>
          <a:xfrm>
            <a:off x="1038727" y="5486400"/>
            <a:ext cx="844215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1737" y="6248400"/>
            <a:ext cx="86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IG = 0</a:t>
            </a:r>
            <a:endParaRPr lang="en-US" dirty="0"/>
          </a:p>
        </p:txBody>
      </p:sp>
      <p:sp>
        <p:nvSpPr>
          <p:cNvPr id="42" name="Rounded Rectangle 41"/>
          <p:cNvSpPr/>
          <p:nvPr/>
        </p:nvSpPr>
        <p:spPr>
          <a:xfrm>
            <a:off x="2895600" y="5181600"/>
            <a:ext cx="1010653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Y=0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438400" y="5791200"/>
            <a:ext cx="914400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P=3, N=3</a:t>
            </a:r>
            <a:endParaRPr lang="en-US" sz="1100" i="0" dirty="0">
              <a:solidFill>
                <a:schemeClr val="tx1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765883" y="5791200"/>
            <a:ext cx="958517" cy="3048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0" dirty="0" smtClean="0">
                <a:solidFill>
                  <a:schemeClr val="tx1"/>
                </a:solidFill>
              </a:rPr>
              <a:t>P=3, N=3</a:t>
            </a:r>
            <a:endParaRPr lang="en-US" sz="1100" i="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2" idx="2"/>
            <a:endCxn id="43" idx="0"/>
          </p:cNvCxnSpPr>
          <p:nvPr/>
        </p:nvCxnSpPr>
        <p:spPr>
          <a:xfrm flipH="1">
            <a:off x="2895600" y="5486400"/>
            <a:ext cx="505327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2" idx="2"/>
            <a:endCxn id="44" idx="0"/>
          </p:cNvCxnSpPr>
          <p:nvPr/>
        </p:nvCxnSpPr>
        <p:spPr>
          <a:xfrm>
            <a:off x="3400927" y="5486400"/>
            <a:ext cx="844215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023937" y="6248400"/>
            <a:ext cx="86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IG =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65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Handling continuous attributes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dirty="0"/>
              <a:t>Split point test</a:t>
            </a:r>
          </a:p>
          <a:p>
            <a:pPr lvl="1"/>
            <a:r>
              <a:rPr lang="en-US" dirty="0"/>
              <a:t>Rather than testing for equality, test for range</a:t>
            </a:r>
          </a:p>
          <a:p>
            <a:pPr lvl="1"/>
            <a:r>
              <a:rPr lang="en-US" dirty="0"/>
              <a:t>(Weight &gt; 160) ?</a:t>
            </a:r>
          </a:p>
          <a:p>
            <a:r>
              <a:rPr lang="en-US" dirty="0"/>
              <a:t>Start by sorting the values of the attribute</a:t>
            </a:r>
          </a:p>
          <a:p>
            <a:r>
              <a:rPr lang="en-US" dirty="0"/>
              <a:t>Consider only split points that are between two examples in sorted order that have different classifications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Decision Tree Regression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/>
              <a:t>Each leaf node contains a linear function of some subset of numerical attributes</a:t>
            </a:r>
          </a:p>
          <a:p>
            <a:r>
              <a:rPr lang="en-US"/>
              <a:t>The learning algorithm must decide when to stop splitting and begin applying linear regression over the attributes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/>
              <a:t>Pros and Cons of Decision Trees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Interpretable</a:t>
            </a:r>
          </a:p>
          <a:p>
            <a:pPr lvl="1"/>
            <a:r>
              <a:rPr lang="en-US" dirty="0"/>
              <a:t>Scalable</a:t>
            </a:r>
          </a:p>
          <a:p>
            <a:pPr lvl="1"/>
            <a:r>
              <a:rPr lang="en-US" dirty="0"/>
              <a:t>Can handle regression and </a:t>
            </a:r>
            <a:r>
              <a:rPr lang="en-US" dirty="0" smtClean="0"/>
              <a:t>classification</a:t>
            </a:r>
          </a:p>
          <a:p>
            <a:pPr lvl="2"/>
            <a:r>
              <a:rPr lang="en-US" dirty="0" smtClean="0"/>
              <a:t>CART (Classification </a:t>
            </a:r>
            <a:r>
              <a:rPr lang="en-US" dirty="0"/>
              <a:t>And Regression </a:t>
            </a:r>
            <a:r>
              <a:rPr lang="en-US" dirty="0" smtClean="0"/>
              <a:t>Trees)</a:t>
            </a:r>
            <a:endParaRPr lang="en-US" dirty="0"/>
          </a:p>
          <a:p>
            <a:r>
              <a:rPr lang="en-US" dirty="0" smtClean="0"/>
              <a:t>Cons</a:t>
            </a:r>
            <a:endParaRPr lang="en-US" dirty="0"/>
          </a:p>
          <a:p>
            <a:pPr lvl="1"/>
            <a:r>
              <a:rPr lang="en-US" dirty="0"/>
              <a:t>Suboptimal accuracy due to greedy search</a:t>
            </a:r>
          </a:p>
          <a:p>
            <a:pPr lvl="1"/>
            <a:r>
              <a:rPr lang="en-US" dirty="0"/>
              <a:t>Inference is expensive for deep trees</a:t>
            </a:r>
          </a:p>
          <a:p>
            <a:pPr lvl="1"/>
            <a:r>
              <a:rPr lang="en-US" dirty="0"/>
              <a:t>Unstable: One new example could change the entire tree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596188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985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(Regression)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Start with a Leaf</a:t>
            </a:r>
          </a:p>
          <a:p>
            <a:pPr lvl="1"/>
            <a:r>
              <a:rPr lang="en-US" dirty="0"/>
              <a:t>Initial guess for the weights of all the samples</a:t>
            </a:r>
          </a:p>
          <a:p>
            <a:pPr lvl="1"/>
            <a:r>
              <a:rPr lang="en-US" dirty="0"/>
              <a:t>Predict the target variable using average value</a:t>
            </a:r>
          </a:p>
          <a:p>
            <a:r>
              <a:rPr lang="en-US" dirty="0"/>
              <a:t>New tree is created based on previous tree’s errors</a:t>
            </a:r>
          </a:p>
          <a:p>
            <a:pPr lvl="1"/>
            <a:r>
              <a:rPr lang="en-US"/>
              <a:t>Pseudo </a:t>
            </a:r>
            <a:r>
              <a:rPr lang="en-US" dirty="0"/>
              <a:t>residuals</a:t>
            </a:r>
          </a:p>
          <a:p>
            <a:r>
              <a:rPr lang="en-US" dirty="0"/>
              <a:t>Size of the tree is restricted</a:t>
            </a:r>
          </a:p>
          <a:p>
            <a:pPr lvl="1"/>
            <a:r>
              <a:rPr lang="en-US" dirty="0"/>
              <a:t>Not as restrictive as stumps in </a:t>
            </a:r>
            <a:r>
              <a:rPr lang="en-US" dirty="0" err="1"/>
              <a:t>AdaBoost</a:t>
            </a:r>
            <a:endParaRPr lang="en-US" dirty="0"/>
          </a:p>
          <a:p>
            <a:pPr lvl="1"/>
            <a:r>
              <a:rPr lang="en-US" dirty="0"/>
              <a:t>Max leaves is generally set to between 8 to 32.</a:t>
            </a:r>
          </a:p>
          <a:p>
            <a:r>
              <a:rPr lang="en-US" dirty="0"/>
              <a:t>Scaling factor (learning rate)</a:t>
            </a:r>
          </a:p>
          <a:p>
            <a:pPr lvl="1"/>
            <a:r>
              <a:rPr lang="en-US" dirty="0"/>
              <a:t>All trees by the same amount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57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us work with an example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8278"/>
              </p:ext>
            </p:extLst>
          </p:nvPr>
        </p:nvGraphicFramePr>
        <p:xfrm>
          <a:off x="914400" y="1828800"/>
          <a:ext cx="7010400" cy="355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67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49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-14.2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181600" y="5638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66800" y="5486400"/>
            <a:ext cx="37338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 Prediction = Average </a:t>
            </a:r>
          </a:p>
        </p:txBody>
      </p:sp>
    </p:spTree>
    <p:extLst>
      <p:ext uri="{BB962C8B-B14F-4D97-AF65-F5344CB8AC3E}">
        <p14:creationId xmlns:p14="http://schemas.microsoft.com/office/powerpoint/2010/main" val="1727009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038600" y="3810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24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0200" y="47244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6388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-14.2, -15.2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2401" y="56388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5400" y="5638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1.8, 5.8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800" y="56388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 flipH="1">
            <a:off x="3429000" y="41910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10" idx="0"/>
          </p:cNvCxnSpPr>
          <p:nvPr/>
        </p:nvCxnSpPr>
        <p:spPr>
          <a:xfrm>
            <a:off x="4724400" y="41910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1" idx="0"/>
          </p:cNvCxnSpPr>
          <p:nvPr/>
        </p:nvCxnSpPr>
        <p:spPr>
          <a:xfrm flipH="1">
            <a:off x="2552701" y="51054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2" idx="0"/>
          </p:cNvCxnSpPr>
          <p:nvPr/>
        </p:nvCxnSpPr>
        <p:spPr>
          <a:xfrm>
            <a:off x="3429000" y="51054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  <a:endCxn id="13" idx="0"/>
          </p:cNvCxnSpPr>
          <p:nvPr/>
        </p:nvCxnSpPr>
        <p:spPr>
          <a:xfrm flipH="1">
            <a:off x="5791200" y="51054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4" idx="0"/>
          </p:cNvCxnSpPr>
          <p:nvPr/>
        </p:nvCxnSpPr>
        <p:spPr>
          <a:xfrm>
            <a:off x="6197600" y="51054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058963"/>
              </p:ext>
            </p:extLst>
          </p:nvPr>
        </p:nvGraphicFramePr>
        <p:xfrm>
          <a:off x="1600200" y="215267"/>
          <a:ext cx="5943600" cy="344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42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-14.2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38200" y="6336268"/>
            <a:ext cx="769620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 eaLnBrk="0" hangingPunct="0">
              <a:spcBef>
                <a:spcPct val="30000"/>
              </a:spcBef>
              <a:buFont typeface="Wingdings" pitchFamily="2" charset="2"/>
              <a:buChar char="Ø"/>
              <a:defRPr/>
            </a:pPr>
            <a:r>
              <a:rPr lang="en-US" i="0" dirty="0"/>
              <a:t>In this example we are only allowing 4 leaves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9101" y="4267200"/>
            <a:ext cx="1866899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 Tree</a:t>
            </a:r>
          </a:p>
        </p:txBody>
      </p:sp>
    </p:spTree>
    <p:extLst>
      <p:ext uri="{BB962C8B-B14F-4D97-AF65-F5344CB8AC3E}">
        <p14:creationId xmlns:p14="http://schemas.microsoft.com/office/powerpoint/2010/main" val="4146364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038600" y="3810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24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0200" y="47244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6388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2401" y="56388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5400" y="5638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800" y="56388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15" name="Straight Arrow Connector 14"/>
          <p:cNvCxnSpPr>
            <a:stCxn id="8" idx="2"/>
            <a:endCxn id="9" idx="0"/>
          </p:cNvCxnSpPr>
          <p:nvPr/>
        </p:nvCxnSpPr>
        <p:spPr>
          <a:xfrm flipH="1">
            <a:off x="3429000" y="41910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10" idx="0"/>
          </p:cNvCxnSpPr>
          <p:nvPr/>
        </p:nvCxnSpPr>
        <p:spPr>
          <a:xfrm>
            <a:off x="4724400" y="41910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2"/>
            <a:endCxn id="11" idx="0"/>
          </p:cNvCxnSpPr>
          <p:nvPr/>
        </p:nvCxnSpPr>
        <p:spPr>
          <a:xfrm flipH="1">
            <a:off x="2552701" y="51054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2" idx="0"/>
          </p:cNvCxnSpPr>
          <p:nvPr/>
        </p:nvCxnSpPr>
        <p:spPr>
          <a:xfrm>
            <a:off x="3429000" y="51054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" idx="2"/>
            <a:endCxn id="13" idx="0"/>
          </p:cNvCxnSpPr>
          <p:nvPr/>
        </p:nvCxnSpPr>
        <p:spPr>
          <a:xfrm flipH="1">
            <a:off x="5791200" y="51054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4" idx="0"/>
          </p:cNvCxnSpPr>
          <p:nvPr/>
        </p:nvCxnSpPr>
        <p:spPr>
          <a:xfrm>
            <a:off x="6197600" y="51054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076830"/>
              </p:ext>
            </p:extLst>
          </p:nvPr>
        </p:nvGraphicFramePr>
        <p:xfrm>
          <a:off x="1600200" y="215267"/>
          <a:ext cx="5943600" cy="344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42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99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-14.2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38200" y="6336268"/>
            <a:ext cx="769620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 eaLnBrk="0" hangingPunct="0">
              <a:spcBef>
                <a:spcPct val="30000"/>
              </a:spcBef>
              <a:buFont typeface="Wingdings" pitchFamily="2" charset="2"/>
              <a:buChar char="Ø"/>
              <a:defRPr/>
            </a:pPr>
            <a:r>
              <a:rPr lang="en-US" i="0" dirty="0"/>
              <a:t>In this example we are only allowing 4 leaves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9101" y="4267200"/>
            <a:ext cx="1866899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Updated Tree</a:t>
            </a:r>
          </a:p>
        </p:txBody>
      </p:sp>
    </p:spTree>
    <p:extLst>
      <p:ext uri="{BB962C8B-B14F-4D97-AF65-F5344CB8AC3E}">
        <p14:creationId xmlns:p14="http://schemas.microsoft.com/office/powerpoint/2010/main" val="53453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of trees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354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150876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11480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9400" y="2667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6670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5000" y="35814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8601" y="35814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600" y="3581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5814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28" name="Straight Arrow Connector 27"/>
          <p:cNvCxnSpPr>
            <a:stCxn id="21" idx="2"/>
            <a:endCxn id="22" idx="0"/>
          </p:cNvCxnSpPr>
          <p:nvPr/>
        </p:nvCxnSpPr>
        <p:spPr>
          <a:xfrm flipH="1">
            <a:off x="3505200" y="21336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3" idx="0"/>
          </p:cNvCxnSpPr>
          <p:nvPr/>
        </p:nvCxnSpPr>
        <p:spPr>
          <a:xfrm>
            <a:off x="4800600" y="21336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4" idx="0"/>
          </p:cNvCxnSpPr>
          <p:nvPr/>
        </p:nvCxnSpPr>
        <p:spPr>
          <a:xfrm flipH="1">
            <a:off x="2628901" y="30480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25" idx="0"/>
          </p:cNvCxnSpPr>
          <p:nvPr/>
        </p:nvCxnSpPr>
        <p:spPr>
          <a:xfrm>
            <a:off x="3505200" y="30480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2"/>
            <a:endCxn id="26" idx="0"/>
          </p:cNvCxnSpPr>
          <p:nvPr/>
        </p:nvCxnSpPr>
        <p:spPr>
          <a:xfrm flipH="1">
            <a:off x="5867400" y="30480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2"/>
            <a:endCxn id="27" idx="0"/>
          </p:cNvCxnSpPr>
          <p:nvPr/>
        </p:nvCxnSpPr>
        <p:spPr>
          <a:xfrm>
            <a:off x="6273800" y="30480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545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of trees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5354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150876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114800" y="175260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9400" y="2667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667000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5000" y="35814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8601" y="35814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600" y="3581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581400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28" name="Straight Arrow Connector 27"/>
          <p:cNvCxnSpPr>
            <a:stCxn id="21" idx="2"/>
            <a:endCxn id="22" idx="0"/>
          </p:cNvCxnSpPr>
          <p:nvPr/>
        </p:nvCxnSpPr>
        <p:spPr>
          <a:xfrm flipH="1">
            <a:off x="3505200" y="21336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3" idx="0"/>
          </p:cNvCxnSpPr>
          <p:nvPr/>
        </p:nvCxnSpPr>
        <p:spPr>
          <a:xfrm>
            <a:off x="4800600" y="21336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4" idx="0"/>
          </p:cNvCxnSpPr>
          <p:nvPr/>
        </p:nvCxnSpPr>
        <p:spPr>
          <a:xfrm flipH="1">
            <a:off x="2628901" y="30480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25" idx="0"/>
          </p:cNvCxnSpPr>
          <p:nvPr/>
        </p:nvCxnSpPr>
        <p:spPr>
          <a:xfrm>
            <a:off x="3505200" y="30480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2"/>
            <a:endCxn id="26" idx="0"/>
          </p:cNvCxnSpPr>
          <p:nvPr/>
        </p:nvCxnSpPr>
        <p:spPr>
          <a:xfrm flipH="1">
            <a:off x="5867400" y="30480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2"/>
            <a:endCxn id="27" idx="0"/>
          </p:cNvCxnSpPr>
          <p:nvPr/>
        </p:nvCxnSpPr>
        <p:spPr>
          <a:xfrm>
            <a:off x="6273800" y="30480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070802"/>
              </p:ext>
            </p:extLst>
          </p:nvPr>
        </p:nvGraphicFramePr>
        <p:xfrm>
          <a:off x="1600200" y="4435475"/>
          <a:ext cx="6096000" cy="74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3000" y="5486400"/>
            <a:ext cx="7391400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Predicted weight = 71.2 + 16.8 = 88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Overfitting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7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150876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i="0" dirty="0"/>
          </a:p>
        </p:txBody>
      </p:sp>
      <p:sp>
        <p:nvSpPr>
          <p:cNvPr id="21" name="Rounded Rectangle 20"/>
          <p:cNvSpPr/>
          <p:nvPr/>
        </p:nvSpPr>
        <p:spPr>
          <a:xfrm>
            <a:off x="4975860" y="1816608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0460" y="273100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7460" y="2731008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6060" y="3645408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9661" y="3645408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42660" y="364540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19060" y="3645408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28" name="Straight Arrow Connector 27"/>
          <p:cNvCxnSpPr>
            <a:stCxn id="21" idx="2"/>
            <a:endCxn id="22" idx="0"/>
          </p:cNvCxnSpPr>
          <p:nvPr/>
        </p:nvCxnSpPr>
        <p:spPr>
          <a:xfrm flipH="1">
            <a:off x="4366260" y="2197608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3" idx="0"/>
          </p:cNvCxnSpPr>
          <p:nvPr/>
        </p:nvCxnSpPr>
        <p:spPr>
          <a:xfrm>
            <a:off x="5661660" y="2197608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4" idx="0"/>
          </p:cNvCxnSpPr>
          <p:nvPr/>
        </p:nvCxnSpPr>
        <p:spPr>
          <a:xfrm flipH="1">
            <a:off x="3489961" y="3112008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25" idx="0"/>
          </p:cNvCxnSpPr>
          <p:nvPr/>
        </p:nvCxnSpPr>
        <p:spPr>
          <a:xfrm>
            <a:off x="4366260" y="3112008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2"/>
            <a:endCxn id="26" idx="0"/>
          </p:cNvCxnSpPr>
          <p:nvPr/>
        </p:nvCxnSpPr>
        <p:spPr>
          <a:xfrm flipH="1">
            <a:off x="6728460" y="3112008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2"/>
            <a:endCxn id="27" idx="0"/>
          </p:cNvCxnSpPr>
          <p:nvPr/>
        </p:nvCxnSpPr>
        <p:spPr>
          <a:xfrm>
            <a:off x="7134860" y="3112008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573731"/>
              </p:ext>
            </p:extLst>
          </p:nvPr>
        </p:nvGraphicFramePr>
        <p:xfrm>
          <a:off x="1600200" y="4435475"/>
          <a:ext cx="6096000" cy="74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3000" y="5486400"/>
            <a:ext cx="7391400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Let the learning rate be 0.1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Predicted weight = 71.2 + 0.1 × 16.8 = 72.9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Pseudo residual = 88 – 72.9 = 15.1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6060" y="177950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Learning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010" y="1560576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29484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Residuals calculated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4835"/>
              </p:ext>
            </p:extLst>
          </p:nvPr>
        </p:nvGraphicFramePr>
        <p:xfrm>
          <a:off x="993775" y="1752597"/>
          <a:ext cx="7007225" cy="3657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0144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78879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-13.7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781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-12.7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88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Residuals calculated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54200"/>
              </p:ext>
            </p:extLst>
          </p:nvPr>
        </p:nvGraphicFramePr>
        <p:xfrm>
          <a:off x="609600" y="1752600"/>
          <a:ext cx="3276600" cy="325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(Iteration#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(Iteration#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-13.7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-14.2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-12.7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6" name="Left Arrow 5"/>
          <p:cNvSpPr/>
          <p:nvPr/>
        </p:nvSpPr>
        <p:spPr>
          <a:xfrm>
            <a:off x="4572000" y="2362200"/>
            <a:ext cx="3505200" cy="2057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All the residuals decreased</a:t>
            </a:r>
          </a:p>
        </p:txBody>
      </p:sp>
    </p:spTree>
    <p:extLst>
      <p:ext uri="{BB962C8B-B14F-4D97-AF65-F5344CB8AC3E}">
        <p14:creationId xmlns:p14="http://schemas.microsoft.com/office/powerpoint/2010/main" val="2893109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0" y="2438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3352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600" y="33528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42672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-12.7, -13.7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3801" y="42672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4267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1.4,5.4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200" y="42672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15.1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3200400" y="28194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2"/>
            <a:endCxn id="6" idx="0"/>
          </p:cNvCxnSpPr>
          <p:nvPr/>
        </p:nvCxnSpPr>
        <p:spPr>
          <a:xfrm>
            <a:off x="4495800" y="28194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2324101" y="37338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8" idx="0"/>
          </p:cNvCxnSpPr>
          <p:nvPr/>
        </p:nvCxnSpPr>
        <p:spPr>
          <a:xfrm>
            <a:off x="3200400" y="37338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9" idx="0"/>
          </p:cNvCxnSpPr>
          <p:nvPr/>
        </p:nvCxnSpPr>
        <p:spPr>
          <a:xfrm flipH="1">
            <a:off x="5562600" y="37338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10" idx="0"/>
          </p:cNvCxnSpPr>
          <p:nvPr/>
        </p:nvCxnSpPr>
        <p:spPr>
          <a:xfrm>
            <a:off x="5969000" y="37338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055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0" y="2438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3352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600" y="33528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42672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-13.2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3801" y="42672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4267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3200" y="42672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15.1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3200400" y="28194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2"/>
            <a:endCxn id="6" idx="0"/>
          </p:cNvCxnSpPr>
          <p:nvPr/>
        </p:nvCxnSpPr>
        <p:spPr>
          <a:xfrm>
            <a:off x="4495800" y="28194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2324101" y="37338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8" idx="0"/>
          </p:cNvCxnSpPr>
          <p:nvPr/>
        </p:nvCxnSpPr>
        <p:spPr>
          <a:xfrm>
            <a:off x="3200400" y="37338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9" idx="0"/>
          </p:cNvCxnSpPr>
          <p:nvPr/>
        </p:nvCxnSpPr>
        <p:spPr>
          <a:xfrm flipH="1">
            <a:off x="5562600" y="37338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10" idx="0"/>
          </p:cNvCxnSpPr>
          <p:nvPr/>
        </p:nvCxnSpPr>
        <p:spPr>
          <a:xfrm>
            <a:off x="5969000" y="37338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378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predictions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00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150876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3962400" y="1752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67000" y="2667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0" y="26670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52600" y="358140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1" y="35814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581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05600" y="358140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28" name="Straight Arrow Connector 27"/>
          <p:cNvCxnSpPr>
            <a:stCxn id="21" idx="2"/>
            <a:endCxn id="22" idx="0"/>
          </p:cNvCxnSpPr>
          <p:nvPr/>
        </p:nvCxnSpPr>
        <p:spPr>
          <a:xfrm flipH="1">
            <a:off x="3352800" y="213360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3" idx="0"/>
          </p:cNvCxnSpPr>
          <p:nvPr/>
        </p:nvCxnSpPr>
        <p:spPr>
          <a:xfrm>
            <a:off x="4648200" y="213360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4" idx="0"/>
          </p:cNvCxnSpPr>
          <p:nvPr/>
        </p:nvCxnSpPr>
        <p:spPr>
          <a:xfrm flipH="1">
            <a:off x="2476501" y="304800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25" idx="0"/>
          </p:cNvCxnSpPr>
          <p:nvPr/>
        </p:nvCxnSpPr>
        <p:spPr>
          <a:xfrm>
            <a:off x="3352800" y="304800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2"/>
            <a:endCxn id="26" idx="0"/>
          </p:cNvCxnSpPr>
          <p:nvPr/>
        </p:nvCxnSpPr>
        <p:spPr>
          <a:xfrm flipH="1">
            <a:off x="5715000" y="304800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2"/>
            <a:endCxn id="27" idx="0"/>
          </p:cNvCxnSpPr>
          <p:nvPr/>
        </p:nvCxnSpPr>
        <p:spPr>
          <a:xfrm>
            <a:off x="6121400" y="304800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62200" y="168658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152400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1866900" y="411480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3962400" y="43586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67000" y="52730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0" y="527304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52600" y="618744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-13.2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1" y="618744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61874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05600" y="618744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15.1</a:t>
            </a:r>
          </a:p>
        </p:txBody>
      </p:sp>
      <p:cxnSp>
        <p:nvCxnSpPr>
          <p:cNvPr id="43" name="Straight Arrow Connector 42"/>
          <p:cNvCxnSpPr>
            <a:stCxn id="36" idx="2"/>
            <a:endCxn id="37" idx="0"/>
          </p:cNvCxnSpPr>
          <p:nvPr/>
        </p:nvCxnSpPr>
        <p:spPr>
          <a:xfrm flipH="1">
            <a:off x="3352800" y="473964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6" idx="2"/>
            <a:endCxn id="38" idx="0"/>
          </p:cNvCxnSpPr>
          <p:nvPr/>
        </p:nvCxnSpPr>
        <p:spPr>
          <a:xfrm>
            <a:off x="4648200" y="473964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7" idx="2"/>
            <a:endCxn id="39" idx="0"/>
          </p:cNvCxnSpPr>
          <p:nvPr/>
        </p:nvCxnSpPr>
        <p:spPr>
          <a:xfrm flipH="1">
            <a:off x="2476501" y="565404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7" idx="2"/>
            <a:endCxn id="40" idx="0"/>
          </p:cNvCxnSpPr>
          <p:nvPr/>
        </p:nvCxnSpPr>
        <p:spPr>
          <a:xfrm>
            <a:off x="3352800" y="565404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8" idx="2"/>
            <a:endCxn id="41" idx="0"/>
          </p:cNvCxnSpPr>
          <p:nvPr/>
        </p:nvCxnSpPr>
        <p:spPr>
          <a:xfrm flipH="1">
            <a:off x="5715000" y="565404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8" idx="2"/>
            <a:endCxn id="42" idx="0"/>
          </p:cNvCxnSpPr>
          <p:nvPr/>
        </p:nvCxnSpPr>
        <p:spPr>
          <a:xfrm>
            <a:off x="6121400" y="565404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62200" y="429262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13004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961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533400" y="3200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9300" y="7620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114800" y="32004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9400" y="12344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1234440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05000" y="214884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8601" y="214884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81600" y="21488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148840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28" name="Straight Arrow Connector 27"/>
          <p:cNvCxnSpPr>
            <a:stCxn id="21" idx="2"/>
            <a:endCxn id="22" idx="0"/>
          </p:cNvCxnSpPr>
          <p:nvPr/>
        </p:nvCxnSpPr>
        <p:spPr>
          <a:xfrm flipH="1">
            <a:off x="3505200" y="70104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2"/>
            <a:endCxn id="23" idx="0"/>
          </p:cNvCxnSpPr>
          <p:nvPr/>
        </p:nvCxnSpPr>
        <p:spPr>
          <a:xfrm>
            <a:off x="4800600" y="70104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2"/>
            <a:endCxn id="24" idx="0"/>
          </p:cNvCxnSpPr>
          <p:nvPr/>
        </p:nvCxnSpPr>
        <p:spPr>
          <a:xfrm flipH="1">
            <a:off x="2628901" y="161544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2" idx="2"/>
            <a:endCxn id="25" idx="0"/>
          </p:cNvCxnSpPr>
          <p:nvPr/>
        </p:nvCxnSpPr>
        <p:spPr>
          <a:xfrm>
            <a:off x="3505200" y="161544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3" idx="2"/>
            <a:endCxn id="26" idx="0"/>
          </p:cNvCxnSpPr>
          <p:nvPr/>
        </p:nvCxnSpPr>
        <p:spPr>
          <a:xfrm flipH="1">
            <a:off x="5867400" y="161544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2"/>
            <a:endCxn id="27" idx="0"/>
          </p:cNvCxnSpPr>
          <p:nvPr/>
        </p:nvCxnSpPr>
        <p:spPr>
          <a:xfrm>
            <a:off x="6273800" y="161544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4600" y="25402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4200" y="9144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2019300" y="268224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4114800" y="292608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19400" y="384048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840480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05000" y="475488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-13.2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38601" y="475488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1600" y="475488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4754880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15.1</a:t>
            </a:r>
          </a:p>
        </p:txBody>
      </p:sp>
      <p:cxnSp>
        <p:nvCxnSpPr>
          <p:cNvPr id="43" name="Straight Arrow Connector 42"/>
          <p:cNvCxnSpPr>
            <a:stCxn id="36" idx="2"/>
            <a:endCxn id="37" idx="0"/>
          </p:cNvCxnSpPr>
          <p:nvPr/>
        </p:nvCxnSpPr>
        <p:spPr>
          <a:xfrm flipH="1">
            <a:off x="3505200" y="330708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6" idx="2"/>
            <a:endCxn id="38" idx="0"/>
          </p:cNvCxnSpPr>
          <p:nvPr/>
        </p:nvCxnSpPr>
        <p:spPr>
          <a:xfrm>
            <a:off x="4800600" y="330708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7" idx="2"/>
            <a:endCxn id="39" idx="0"/>
          </p:cNvCxnSpPr>
          <p:nvPr/>
        </p:nvCxnSpPr>
        <p:spPr>
          <a:xfrm flipH="1">
            <a:off x="2628901" y="422148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7" idx="2"/>
            <a:endCxn id="40" idx="0"/>
          </p:cNvCxnSpPr>
          <p:nvPr/>
        </p:nvCxnSpPr>
        <p:spPr>
          <a:xfrm>
            <a:off x="3505200" y="422148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8" idx="2"/>
            <a:endCxn id="41" idx="0"/>
          </p:cNvCxnSpPr>
          <p:nvPr/>
        </p:nvCxnSpPr>
        <p:spPr>
          <a:xfrm flipH="1">
            <a:off x="5867400" y="422148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8" idx="2"/>
            <a:endCxn id="42" idx="0"/>
          </p:cNvCxnSpPr>
          <p:nvPr/>
        </p:nvCxnSpPr>
        <p:spPr>
          <a:xfrm>
            <a:off x="6273800" y="422148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14600" y="286006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4200" y="269748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728848"/>
              </p:ext>
            </p:extLst>
          </p:nvPr>
        </p:nvGraphicFramePr>
        <p:xfrm>
          <a:off x="152400" y="5410200"/>
          <a:ext cx="5791200" cy="54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152400" y="6193393"/>
            <a:ext cx="7391400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Predicted weight = 71.2 + 0.1 × 16.8 + 0.1 × 15.1 = 74.4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Residual = 88 – 74.4 = 13.6</a:t>
            </a:r>
          </a:p>
        </p:txBody>
      </p:sp>
    </p:spTree>
    <p:extLst>
      <p:ext uri="{BB962C8B-B14F-4D97-AF65-F5344CB8AC3E}">
        <p14:creationId xmlns:p14="http://schemas.microsoft.com/office/powerpoint/2010/main" val="3810820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Residuals calculated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136"/>
              </p:ext>
            </p:extLst>
          </p:nvPr>
        </p:nvGraphicFramePr>
        <p:xfrm>
          <a:off x="609600" y="1752600"/>
          <a:ext cx="4800600" cy="325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9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48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48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(Iteration#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(Iteration#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(Iteration#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3)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-15.2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-13.7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-12.4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-14.2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-12.7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5486400"/>
            <a:ext cx="7391400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We continue  this way </a:t>
            </a:r>
            <a:r>
              <a:rPr lang="en-US" u="sng" dirty="0"/>
              <a:t>until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Maximum number of trees specified is reached, OR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Additional trees do not significantly reduce residuals</a:t>
            </a:r>
          </a:p>
        </p:txBody>
      </p:sp>
    </p:spTree>
    <p:extLst>
      <p:ext uri="{BB962C8B-B14F-4D97-AF65-F5344CB8AC3E}">
        <p14:creationId xmlns:p14="http://schemas.microsoft.com/office/powerpoint/2010/main" val="300706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02896"/>
              </p:ext>
            </p:extLst>
          </p:nvPr>
        </p:nvGraphicFramePr>
        <p:xfrm>
          <a:off x="152400" y="152400"/>
          <a:ext cx="5791200" cy="54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Height (m)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 (Kg)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Female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??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38200" y="108204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71.2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24100" y="83820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419600" y="108204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4200" y="199644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200" y="199644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800" y="291084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-14.7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1" y="2910840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91084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2800" y="291084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16.8</a:t>
            </a:r>
          </a:p>
        </p:txBody>
      </p: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 flipH="1">
            <a:off x="3810000" y="146304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2"/>
            <a:endCxn id="9" idx="0"/>
          </p:cNvCxnSpPr>
          <p:nvPr/>
        </p:nvCxnSpPr>
        <p:spPr>
          <a:xfrm>
            <a:off x="5105400" y="146304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2"/>
            <a:endCxn id="10" idx="0"/>
          </p:cNvCxnSpPr>
          <p:nvPr/>
        </p:nvCxnSpPr>
        <p:spPr>
          <a:xfrm flipH="1">
            <a:off x="2933701" y="237744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11" idx="0"/>
          </p:cNvCxnSpPr>
          <p:nvPr/>
        </p:nvCxnSpPr>
        <p:spPr>
          <a:xfrm>
            <a:off x="3810000" y="237744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2" idx="0"/>
          </p:cNvCxnSpPr>
          <p:nvPr/>
        </p:nvCxnSpPr>
        <p:spPr>
          <a:xfrm flipH="1">
            <a:off x="6172200" y="237744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13" idx="0"/>
          </p:cNvCxnSpPr>
          <p:nvPr/>
        </p:nvCxnSpPr>
        <p:spPr>
          <a:xfrm>
            <a:off x="6578600" y="237744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19400" y="101602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85344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2324100" y="3444240"/>
            <a:ext cx="64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+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4419600" y="368808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Gender=F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4200" y="460248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Height&lt;1.6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1200" y="460248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not Blue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09800" y="5516880"/>
            <a:ext cx="1447801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-13.2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1" y="5516880"/>
            <a:ext cx="914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4.3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51688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3.4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62800" y="5516880"/>
            <a:ext cx="914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15.1</a:t>
            </a:r>
          </a:p>
        </p:txBody>
      </p:sp>
      <p:cxnSp>
        <p:nvCxnSpPr>
          <p:cNvPr id="30" name="Straight Arrow Connector 29"/>
          <p:cNvCxnSpPr>
            <a:stCxn id="23" idx="2"/>
            <a:endCxn id="24" idx="0"/>
          </p:cNvCxnSpPr>
          <p:nvPr/>
        </p:nvCxnSpPr>
        <p:spPr>
          <a:xfrm flipH="1">
            <a:off x="3810000" y="4069080"/>
            <a:ext cx="1295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2"/>
            <a:endCxn id="25" idx="0"/>
          </p:cNvCxnSpPr>
          <p:nvPr/>
        </p:nvCxnSpPr>
        <p:spPr>
          <a:xfrm>
            <a:off x="5105400" y="4069080"/>
            <a:ext cx="1473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4" idx="2"/>
            <a:endCxn id="26" idx="0"/>
          </p:cNvCxnSpPr>
          <p:nvPr/>
        </p:nvCxnSpPr>
        <p:spPr>
          <a:xfrm flipH="1">
            <a:off x="2933701" y="4983480"/>
            <a:ext cx="876299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2"/>
            <a:endCxn id="27" idx="0"/>
          </p:cNvCxnSpPr>
          <p:nvPr/>
        </p:nvCxnSpPr>
        <p:spPr>
          <a:xfrm>
            <a:off x="3810000" y="4983480"/>
            <a:ext cx="990601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2"/>
            <a:endCxn id="28" idx="0"/>
          </p:cNvCxnSpPr>
          <p:nvPr/>
        </p:nvCxnSpPr>
        <p:spPr>
          <a:xfrm flipH="1">
            <a:off x="6172200" y="4983480"/>
            <a:ext cx="406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5" idx="2"/>
            <a:endCxn id="29" idx="0"/>
          </p:cNvCxnSpPr>
          <p:nvPr/>
        </p:nvCxnSpPr>
        <p:spPr>
          <a:xfrm>
            <a:off x="6578600" y="4983480"/>
            <a:ext cx="104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19400" y="362206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459480"/>
            <a:ext cx="781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×</a:t>
            </a:r>
            <a:endParaRPr lang="en-US" sz="2800" dirty="0"/>
          </a:p>
        </p:txBody>
      </p:sp>
      <p:sp>
        <p:nvSpPr>
          <p:cNvPr id="39" name="TextBox 38"/>
          <p:cNvSpPr txBox="1"/>
          <p:nvPr/>
        </p:nvSpPr>
        <p:spPr>
          <a:xfrm>
            <a:off x="762000" y="6336268"/>
            <a:ext cx="7391400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Inferred weight = 71.2 + 0.1 × 4.8 + 0.1 × 4.3 = 72.1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6200" y="2667000"/>
            <a:ext cx="1600200" cy="18821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Inference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6324600" y="0"/>
            <a:ext cx="2463800" cy="9296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45834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with Gradient Boosting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684822"/>
              </p:ext>
            </p:extLst>
          </p:nvPr>
        </p:nvGraphicFramePr>
        <p:xfrm>
          <a:off x="1524000" y="1676400"/>
          <a:ext cx="6096000" cy="299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33400" y="5410200"/>
            <a:ext cx="1905000" cy="5334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Log(odds) = 0.7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62400" y="5181600"/>
                <a:ext cx="5029200" cy="1433598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Odds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/>
                          <m:t>no</m:t>
                        </m:r>
                        <m:r>
                          <m:rPr>
                            <m:nor/>
                          </m:rPr>
                          <a:rPr lang="en-US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positive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instances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/>
                          <m:t>no</m:t>
                        </m:r>
                        <m:r>
                          <m:rPr>
                            <m:nor/>
                          </m:rPr>
                          <a:rPr lang="en-US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dirty="0" smtClean="0"/>
                          <m:t>of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1" i="1" dirty="0" smtClean="0"/>
                          <m:t>negat</m:t>
                        </m:r>
                        <m:r>
                          <m:rPr>
                            <m:nor/>
                          </m:rPr>
                          <a:rPr lang="en-US" dirty="0" smtClean="0"/>
                          <m:t>ive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instances</m:t>
                        </m:r>
                        <m:r>
                          <m:rPr>
                            <m:nor/>
                          </m:rPr>
                          <a:rPr lang="en-US" dirty="0" smtClean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Log(odds) = log (odds ratio)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Apply logistic function for classification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:r>
                  <a:rPr lang="en-US" dirty="0"/>
                  <a:t> 1 / (1+e</a:t>
                </a:r>
                <a:r>
                  <a:rPr lang="en-US" baseline="30000" dirty="0"/>
                  <a:t>-x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5181600"/>
                <a:ext cx="5029200" cy="1433598"/>
              </a:xfrm>
              <a:prstGeom prst="rect">
                <a:avLst/>
              </a:prstGeom>
              <a:blipFill rotWithShape="1">
                <a:blip r:embed="rId2"/>
                <a:stretch>
                  <a:fillRect l="-605" b="-548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47750" y="4991100"/>
            <a:ext cx="8763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59436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loving CSE471 is 1/(1+e</a:t>
            </a:r>
            <a:r>
              <a:rPr lang="en-US" baseline="30000" dirty="0"/>
              <a:t>-0.7</a:t>
            </a:r>
            <a:r>
              <a:rPr lang="en-US" dirty="0"/>
              <a:t>) ~ 0.6682 ~ 0.7</a:t>
            </a:r>
          </a:p>
        </p:txBody>
      </p:sp>
    </p:spTree>
    <p:extLst>
      <p:ext uri="{BB962C8B-B14F-4D97-AF65-F5344CB8AC3E}">
        <p14:creationId xmlns:p14="http://schemas.microsoft.com/office/powerpoint/2010/main" val="2310281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82922"/>
              </p:ext>
            </p:extLst>
          </p:nvPr>
        </p:nvGraphicFramePr>
        <p:xfrm>
          <a:off x="1524000" y="457200"/>
          <a:ext cx="6096000" cy="299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352800" y="4038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0800" y="4800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0" y="48006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58674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0" y="5867400"/>
            <a:ext cx="15240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11" name="Straight Arrow Connector 10"/>
          <p:cNvCxnSpPr>
            <a:stCxn id="4" idx="2"/>
          </p:cNvCxnSpPr>
          <p:nvPr/>
        </p:nvCxnSpPr>
        <p:spPr>
          <a:xfrm flipH="1">
            <a:off x="3276600" y="4419600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2"/>
          </p:cNvCxnSpPr>
          <p:nvPr/>
        </p:nvCxnSpPr>
        <p:spPr>
          <a:xfrm>
            <a:off x="4038600" y="4419600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9" idx="0"/>
          </p:cNvCxnSpPr>
          <p:nvPr/>
        </p:nvCxnSpPr>
        <p:spPr>
          <a:xfrm flipH="1">
            <a:off x="4343400" y="51816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10" idx="0"/>
          </p:cNvCxnSpPr>
          <p:nvPr/>
        </p:nvCxnSpPr>
        <p:spPr>
          <a:xfrm>
            <a:off x="4978400" y="51816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651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" y="3886200"/>
            <a:ext cx="13716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64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953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4953000"/>
            <a:ext cx="15240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 flipH="1">
            <a:off x="762000" y="3505200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>
            <a:off x="1524000" y="3505200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 flipH="1">
            <a:off x="18288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9" idx="0"/>
          </p:cNvCxnSpPr>
          <p:nvPr/>
        </p:nvCxnSpPr>
        <p:spPr>
          <a:xfrm>
            <a:off x="24638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95700"/>
                <a:ext cx="3200400" cy="528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=−</m:t>
                    </m:r>
                    <m:r>
                      <a:rPr lang="en-US" b="1" i="1" smtClean="0">
                        <a:latin typeface="Cambria Math"/>
                      </a:rPr>
                      <m:t>𝟑</m:t>
                    </m:r>
                    <m:r>
                      <a:rPr lang="en-US" b="1" i="1" smtClean="0">
                        <a:latin typeface="Cambria Math"/>
                      </a:rPr>
                      <m:t>.</m:t>
                    </m:r>
                    <m:r>
                      <a:rPr lang="en-US" b="1" i="1" smtClean="0">
                        <a:latin typeface="Cambria Math"/>
                      </a:rPr>
                      <m:t>𝟑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95700"/>
                <a:ext cx="3200400" cy="528286"/>
              </a:xfrm>
              <a:prstGeom prst="rect">
                <a:avLst/>
              </a:prstGeom>
              <a:blipFill rotWithShape="1">
                <a:blip r:embed="rId3"/>
                <a:stretch>
                  <a:fillRect l="-1714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57200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</p:spTree>
    <p:extLst>
      <p:ext uri="{BB962C8B-B14F-4D97-AF65-F5344CB8AC3E}">
        <p14:creationId xmlns:p14="http://schemas.microsoft.com/office/powerpoint/2010/main" val="33036607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" y="3886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64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953000"/>
            <a:ext cx="13716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4953000"/>
            <a:ext cx="15240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 flipH="1">
            <a:off x="762000" y="3505200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>
            <a:off x="1524000" y="3505200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 flipH="1">
            <a:off x="18288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9" idx="0"/>
          </p:cNvCxnSpPr>
          <p:nvPr/>
        </p:nvCxnSpPr>
        <p:spPr>
          <a:xfrm>
            <a:off x="24638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95700"/>
                <a:ext cx="3810000" cy="810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𝟑</m:t>
                        </m:r>
                        <m:r>
                          <a:rPr lang="en-US" b="1" i="1" smtClean="0">
                            <a:latin typeface="Cambria Math"/>
                          </a:rPr>
                          <m:t>+(−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𝟕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𝟒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𝟒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=−</m:t>
                    </m:r>
                    <m:r>
                      <a:rPr lang="en-US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95700"/>
                <a:ext cx="3810000" cy="810543"/>
              </a:xfrm>
              <a:prstGeom prst="rect">
                <a:avLst/>
              </a:prstGeom>
              <a:blipFill rotWithShape="1">
                <a:blip r:embed="rId3"/>
                <a:stretch>
                  <a:fillRect l="-1440" t="-3759" b="-3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57200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5334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438361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" y="3886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764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4953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9400" y="4953000"/>
            <a:ext cx="15240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10" name="Straight Arrow Connector 9"/>
          <p:cNvCxnSpPr>
            <a:stCxn id="5" idx="2"/>
          </p:cNvCxnSpPr>
          <p:nvPr/>
        </p:nvCxnSpPr>
        <p:spPr>
          <a:xfrm flipH="1">
            <a:off x="762000" y="3505200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>
            <a:off x="1524000" y="3505200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2"/>
            <a:endCxn id="8" idx="0"/>
          </p:cNvCxnSpPr>
          <p:nvPr/>
        </p:nvCxnSpPr>
        <p:spPr>
          <a:xfrm flipH="1">
            <a:off x="18288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9" idx="0"/>
          </p:cNvCxnSpPr>
          <p:nvPr/>
        </p:nvCxnSpPr>
        <p:spPr>
          <a:xfrm>
            <a:off x="24638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95700"/>
                <a:ext cx="3810000" cy="1205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𝟑</m:t>
                        </m:r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𝟑</m:t>
                        </m:r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</a:rPr>
                              <m:t>𝟕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𝟕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𝟕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>
                            <a:latin typeface="Cambria Math"/>
                          </a:rPr>
                          <m:t>𝟎</m:t>
                        </m:r>
                        <m:r>
                          <a:rPr lang="en-US">
                            <a:latin typeface="Cambria Math"/>
                          </a:rPr>
                          <m:t>.</m:t>
                        </m:r>
                        <m:r>
                          <a:rPr lang="en-US">
                            <a:latin typeface="Cambria Math"/>
                          </a:rPr>
                          <m:t>𝟕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𝟕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𝟗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𝟔𝟑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r>
                      <a:rPr lang="en-US" b="1" i="1" smtClean="0">
                        <a:latin typeface="Cambria Math"/>
                      </a:rPr>
                      <m:t>𝟏</m:t>
                    </m:r>
                    <m:r>
                      <a:rPr lang="en-US" b="1" i="1" smtClean="0">
                        <a:latin typeface="Cambria Math"/>
                      </a:rPr>
                      <m:t>.</m:t>
                    </m:r>
                    <m:r>
                      <a:rPr lang="en-US" b="1" i="1" smtClean="0">
                        <a:latin typeface="Cambria Math"/>
                      </a:rPr>
                      <m:t>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95700"/>
                <a:ext cx="3810000" cy="1205395"/>
              </a:xfrm>
              <a:prstGeom prst="rect">
                <a:avLst/>
              </a:prstGeom>
              <a:blipFill rotWithShape="1">
                <a:blip r:embed="rId3"/>
                <a:stretch>
                  <a:fillRect l="-1440" t="-2525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57200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" y="5334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800" y="53340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3308031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18257"/>
              </p:ext>
            </p:extLst>
          </p:nvPr>
        </p:nvGraphicFramePr>
        <p:xfrm>
          <a:off x="612775" y="1600200"/>
          <a:ext cx="4876800" cy="93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962400" y="3059668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216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3821668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200" y="48884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888468"/>
            <a:ext cx="15240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9" name="Straight Arrow Connector 8"/>
          <p:cNvCxnSpPr>
            <a:stCxn id="4" idx="2"/>
          </p:cNvCxnSpPr>
          <p:nvPr/>
        </p:nvCxnSpPr>
        <p:spPr>
          <a:xfrm flipH="1">
            <a:off x="3886200" y="3440668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</p:cNvCxnSpPr>
          <p:nvPr/>
        </p:nvCxnSpPr>
        <p:spPr>
          <a:xfrm>
            <a:off x="4648200" y="3440668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4953000" y="4202668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>
          <a:xfrm>
            <a:off x="5588000" y="4202668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1400" y="42026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52694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52694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71800"/>
            <a:ext cx="1600200" cy="5715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0" dirty="0">
                <a:solidFill>
                  <a:schemeClr val="tx1"/>
                </a:solidFill>
              </a:rPr>
              <a:t>Log(odds) = 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71800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05966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76600" y="297180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35469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Log odds prediction = 0.7 + 0.8 × 1.4 = 1.8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Probability = 1/(1+e</a:t>
            </a:r>
            <a:r>
              <a:rPr lang="en-US" baseline="30000" dirty="0"/>
              <a:t>-1.8</a:t>
            </a:r>
            <a:r>
              <a:rPr lang="en-US" dirty="0"/>
              <a:t>) = 0.85 ~ 0.9</a:t>
            </a:r>
          </a:p>
        </p:txBody>
      </p:sp>
    </p:spTree>
    <p:extLst>
      <p:ext uri="{BB962C8B-B14F-4D97-AF65-F5344CB8AC3E}">
        <p14:creationId xmlns:p14="http://schemas.microsoft.com/office/powerpoint/2010/main" val="49721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tree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631165"/>
              </p:ext>
            </p:extLst>
          </p:nvPr>
        </p:nvGraphicFramePr>
        <p:xfrm>
          <a:off x="838200" y="1503045"/>
          <a:ext cx="6934200" cy="2992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Predictions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352800" y="4648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5410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0800" y="5410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6477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6477000"/>
            <a:ext cx="2438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9" name="Straight Arrow Connector 8"/>
          <p:cNvCxnSpPr>
            <a:stCxn id="4" idx="2"/>
            <a:endCxn id="6" idx="0"/>
          </p:cNvCxnSpPr>
          <p:nvPr/>
        </p:nvCxnSpPr>
        <p:spPr>
          <a:xfrm flipH="1">
            <a:off x="3378200" y="50292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4038600" y="50292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2743200" y="5791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429000" y="5791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181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95700"/>
                <a:ext cx="3200400" cy="54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𝟓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𝟓</m:t>
                        </m:r>
                        <m:r>
                          <a:rPr lang="en-US" b="1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r>
                      <a:rPr lang="en-US" b="1" i="1" smtClean="0">
                        <a:latin typeface="Cambria Math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95700"/>
                <a:ext cx="3200400" cy="545727"/>
              </a:xfrm>
              <a:prstGeom prst="rect">
                <a:avLst/>
              </a:prstGeom>
              <a:blipFill rotWithShape="1">
                <a:blip r:embed="rId3"/>
                <a:stretch>
                  <a:fillRect l="-1714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14478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8400" y="3886200"/>
            <a:ext cx="13716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400" y="4953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52600" y="4953000"/>
            <a:ext cx="2438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22" name="Straight Arrow Connector 21"/>
          <p:cNvCxnSpPr>
            <a:stCxn id="17" idx="2"/>
            <a:endCxn id="19" idx="0"/>
          </p:cNvCxnSpPr>
          <p:nvPr/>
        </p:nvCxnSpPr>
        <p:spPr>
          <a:xfrm flipH="1">
            <a:off x="1473200" y="35052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2"/>
            <a:endCxn id="18" idx="0"/>
          </p:cNvCxnSpPr>
          <p:nvPr/>
        </p:nvCxnSpPr>
        <p:spPr>
          <a:xfrm>
            <a:off x="2133600" y="35052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 flipH="1">
            <a:off x="8382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5240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863175"/>
              </p:ext>
            </p:extLst>
          </p:nvPr>
        </p:nvGraphicFramePr>
        <p:xfrm>
          <a:off x="990600" y="5852795"/>
          <a:ext cx="6934200" cy="92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Predictions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895600" y="42672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5080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21336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Ensembling</a:t>
            </a:r>
            <a:r>
              <a:rPr lang="en-US" dirty="0"/>
              <a:t> the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7640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953000" y="3695700"/>
                <a:ext cx="3200400" cy="545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𝟓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𝟓</m:t>
                        </m:r>
                        <m:r>
                          <a:rPr lang="en-US" b="1" i="1" smtClean="0">
                            <a:latin typeface="Cambria Math"/>
                          </a:rPr>
                          <m:t>)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=−</m:t>
                    </m:r>
                    <m:r>
                      <a:rPr lang="en-US" b="1" i="1" smtClean="0">
                        <a:latin typeface="Cambria Math"/>
                      </a:rPr>
                      <m:t>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695700"/>
                <a:ext cx="3200400" cy="545727"/>
              </a:xfrm>
              <a:prstGeom prst="rect">
                <a:avLst/>
              </a:prstGeom>
              <a:blipFill rotWithShape="1">
                <a:blip r:embed="rId3"/>
                <a:stretch>
                  <a:fillRect l="-1714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14478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8400" y="3886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400" y="4953000"/>
            <a:ext cx="13716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52600" y="4953000"/>
            <a:ext cx="2438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22" name="Straight Arrow Connector 21"/>
          <p:cNvCxnSpPr>
            <a:stCxn id="17" idx="2"/>
            <a:endCxn id="19" idx="0"/>
          </p:cNvCxnSpPr>
          <p:nvPr/>
        </p:nvCxnSpPr>
        <p:spPr>
          <a:xfrm flipH="1">
            <a:off x="1473200" y="35052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2"/>
            <a:endCxn id="18" idx="0"/>
          </p:cNvCxnSpPr>
          <p:nvPr/>
        </p:nvCxnSpPr>
        <p:spPr>
          <a:xfrm>
            <a:off x="2133600" y="35052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 flipH="1">
            <a:off x="8382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5240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573260"/>
              </p:ext>
            </p:extLst>
          </p:nvPr>
        </p:nvGraphicFramePr>
        <p:xfrm>
          <a:off x="990600" y="5852795"/>
          <a:ext cx="6934200" cy="92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Predictions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895600" y="42672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580872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2987" y="457200"/>
                <a:ext cx="7155613" cy="740074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𝑹𝒆𝒔𝒊𝒅𝒖𝒂𝒍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𝑷𝒓𝒆𝒗𝒊𝒐𝒖𝒔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𝑷𝒓𝒐𝒃𝒂𝒃𝒊𝒍𝒊𝒕𝒚</m:t>
                                      </m:r>
                                    </m:e>
                                    <m:sub>
                                      <m:r>
                                        <a:rPr lang="en-US" sz="2000" b="1" i="1" smtClean="0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sz="2000">
                                      <a:latin typeface="Cambria Math"/>
                                      <a:ea typeface="Cambria Math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2000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𝟏</m:t>
                                      </m:r>
                                      <m:r>
                                        <a:rPr lang="en-US" sz="2000" b="1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𝑷𝒓𝒆𝒗𝒊𝒐𝒖𝒔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𝑷𝒓𝒐𝒃𝒂𝒃𝒊𝒍𝒊𝒕𝒚</m:t>
                                          </m:r>
                                        </m:e>
                                        <m:sub>
                                          <m:r>
                                            <a:rPr lang="en-US" sz="2000" b="1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b="1" i="1" smtClean="0">
                                      <a:latin typeface="Cambria Math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7" y="457200"/>
                <a:ext cx="7155613" cy="740074"/>
              </a:xfrm>
              <a:prstGeom prst="rect">
                <a:avLst/>
              </a:prstGeom>
              <a:blipFill rotWithShape="1">
                <a:blip r:embed="rId2"/>
                <a:stretch>
                  <a:fillRect r="-7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85800" y="0"/>
            <a:ext cx="6096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at each node is calculated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70793" y="2019300"/>
                <a:ext cx="4492207" cy="1214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Output: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𝟗</m:t>
                        </m:r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𝟗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</a:rPr>
                          <m:t>+</m:t>
                        </m:r>
                        <m:r>
                          <a:rPr lang="en-US">
                            <a:latin typeface="Cambria Math"/>
                          </a:rPr>
                          <m:t>𝟎</m:t>
                        </m:r>
                        <m:r>
                          <a:rPr lang="en-US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𝟏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mtClean="0">
                            <a:latin typeface="Cambria Math"/>
                          </a:rPr>
                          <m:t>𝟎</m:t>
                        </m:r>
                        <m:r>
                          <a:rPr lang="en-US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𝟗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𝟗</m:t>
                            </m:r>
                          </m:e>
                        </m:d>
                        <m:r>
                          <a:rPr lang="en-US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mtClean="0">
                            <a:latin typeface="Cambria Math"/>
                          </a:rPr>
                          <m:t>𝟎</m:t>
                        </m:r>
                        <m:r>
                          <a:rPr lang="en-US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𝟗</m:t>
                        </m:r>
                        <m:r>
                          <a:rPr lang="en-US">
                            <a:latin typeface="Cambria Math"/>
                            <a:ea typeface="Cambria Math"/>
                          </a:rPr>
                          <m:t>×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𝟎</m:t>
                            </m:r>
                            <m:r>
                              <a:rPr lang="en-US">
                                <a:latin typeface="Cambria Math"/>
                                <a:ea typeface="Cambria Math"/>
                              </a:rPr>
                              <m:t>.</m:t>
                            </m:r>
                            <m:r>
                              <a:rPr lang="en-US" b="1" i="1" smtClean="0">
                                <a:latin typeface="Cambria Math"/>
                                <a:ea typeface="Cambria Math"/>
                              </a:rPr>
                              <m:t>𝟗</m:t>
                            </m:r>
                          </m:e>
                        </m:d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US" b="1" i="1" smtClean="0">
                            <a:latin typeface="Cambria Math"/>
                          </a:rPr>
                          <m:t>𝟎</m:t>
                        </m:r>
                        <m:r>
                          <a:rPr lang="en-US" b="1" i="1" smtClean="0">
                            <a:latin typeface="Cambria Math"/>
                          </a:rPr>
                          <m:t>.</m:t>
                        </m:r>
                        <m:r>
                          <a:rPr lang="en-US" b="1" i="1" smtClean="0">
                            <a:latin typeface="Cambria Math"/>
                          </a:rPr>
                          <m:t>𝟑𝟔</m:t>
                        </m:r>
                      </m:den>
                    </m:f>
                    <m:r>
                      <a:rPr lang="en-US" b="1" i="1" smtClean="0">
                        <a:latin typeface="Cambria Math"/>
                      </a:rPr>
                      <m:t>=</m:t>
                    </m:r>
                    <m:r>
                      <a:rPr lang="en-US" b="1" i="1" smtClean="0">
                        <a:latin typeface="Cambria Math"/>
                      </a:rPr>
                      <m:t>𝟎</m:t>
                    </m:r>
                    <m:r>
                      <a:rPr lang="en-US" b="1" i="1" smtClean="0">
                        <a:latin typeface="Cambria Math"/>
                      </a:rPr>
                      <m:t>.</m:t>
                    </m:r>
                    <m:r>
                      <a:rPr lang="en-US" b="1" i="1" smtClean="0">
                        <a:latin typeface="Cambria Math"/>
                      </a:rPr>
                      <m:t>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793" y="2019300"/>
                <a:ext cx="4492207" cy="1214371"/>
              </a:xfrm>
              <a:prstGeom prst="rect">
                <a:avLst/>
              </a:prstGeom>
              <a:blipFill rotWithShape="1">
                <a:blip r:embed="rId3"/>
                <a:stretch>
                  <a:fillRect l="-1221" t="-2513" r="-814" b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1447800" y="1447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8400" y="2209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2098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400" y="32766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52600" y="3276600"/>
            <a:ext cx="2438400" cy="381000"/>
          </a:xfrm>
          <a:prstGeom prst="roundRect">
            <a:avLst/>
          </a:prstGeom>
          <a:solidFill>
            <a:srgbClr val="FFFF0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22" name="Straight Arrow Connector 21"/>
          <p:cNvCxnSpPr>
            <a:stCxn id="17" idx="2"/>
            <a:endCxn id="19" idx="0"/>
          </p:cNvCxnSpPr>
          <p:nvPr/>
        </p:nvCxnSpPr>
        <p:spPr>
          <a:xfrm flipH="1">
            <a:off x="1473200" y="18288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7" idx="2"/>
            <a:endCxn id="18" idx="0"/>
          </p:cNvCxnSpPr>
          <p:nvPr/>
        </p:nvCxnSpPr>
        <p:spPr>
          <a:xfrm>
            <a:off x="2133600" y="18288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2"/>
            <a:endCxn id="20" idx="0"/>
          </p:cNvCxnSpPr>
          <p:nvPr/>
        </p:nvCxnSpPr>
        <p:spPr>
          <a:xfrm flipH="1">
            <a:off x="838200" y="25908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524000" y="25908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895600" y="25908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406826"/>
              </p:ext>
            </p:extLst>
          </p:nvPr>
        </p:nvGraphicFramePr>
        <p:xfrm>
          <a:off x="990600" y="4664075"/>
          <a:ext cx="6934200" cy="204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Predictions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Pseudo Residual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667000" y="3657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25360146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62400" y="2402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022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1002268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200" y="20690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069068"/>
            <a:ext cx="15240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7" name="Straight Arrow Connector 6"/>
          <p:cNvCxnSpPr>
            <a:stCxn id="2" idx="2"/>
          </p:cNvCxnSpPr>
          <p:nvPr/>
        </p:nvCxnSpPr>
        <p:spPr>
          <a:xfrm flipH="1">
            <a:off x="3886200" y="621268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2" idx="2"/>
          </p:cNvCxnSpPr>
          <p:nvPr/>
        </p:nvCxnSpPr>
        <p:spPr>
          <a:xfrm>
            <a:off x="4648200" y="621268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2"/>
            <a:endCxn id="5" idx="0"/>
          </p:cNvCxnSpPr>
          <p:nvPr/>
        </p:nvCxnSpPr>
        <p:spPr>
          <a:xfrm flipH="1">
            <a:off x="4953000" y="1383268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6" idx="0"/>
          </p:cNvCxnSpPr>
          <p:nvPr/>
        </p:nvCxnSpPr>
        <p:spPr>
          <a:xfrm>
            <a:off x="5588000" y="1383268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81400" y="1383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4500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4500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52400"/>
            <a:ext cx="1600200" cy="5715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0" dirty="0">
                <a:solidFill>
                  <a:schemeClr val="tx1"/>
                </a:solidFill>
              </a:rPr>
              <a:t>Log(odds) = 0.7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52400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026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276600" y="15240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124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5400" y="38862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800" y="38862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19400" y="4953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9600" y="4953000"/>
            <a:ext cx="24384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23" name="Straight Arrow Connector 22"/>
          <p:cNvCxnSpPr>
            <a:stCxn id="18" idx="2"/>
            <a:endCxn id="20" idx="0"/>
          </p:cNvCxnSpPr>
          <p:nvPr/>
        </p:nvCxnSpPr>
        <p:spPr>
          <a:xfrm flipH="1">
            <a:off x="4140200" y="35052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2"/>
            <a:endCxn id="19" idx="0"/>
          </p:cNvCxnSpPr>
          <p:nvPr/>
        </p:nvCxnSpPr>
        <p:spPr>
          <a:xfrm>
            <a:off x="4800600" y="35052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0" idx="2"/>
            <a:endCxn id="21" idx="0"/>
          </p:cNvCxnSpPr>
          <p:nvPr/>
        </p:nvCxnSpPr>
        <p:spPr>
          <a:xfrm flipH="1">
            <a:off x="3505200" y="42672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191000" y="42672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62600" y="42672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0" y="533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8400" y="3048000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5600" y="313586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429000" y="304800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" y="5858470"/>
            <a:ext cx="7391400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We continue  this way </a:t>
            </a:r>
            <a:r>
              <a:rPr lang="en-US" u="sng" dirty="0"/>
              <a:t>until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Maximum number of trees specified is reached, OR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Additional trees do not significantly reduce residuals</a:t>
            </a:r>
          </a:p>
        </p:txBody>
      </p:sp>
      <p:sp>
        <p:nvSpPr>
          <p:cNvPr id="35" name="Oval 34"/>
          <p:cNvSpPr/>
          <p:nvPr/>
        </p:nvSpPr>
        <p:spPr>
          <a:xfrm>
            <a:off x="152400" y="2259568"/>
            <a:ext cx="2133600" cy="13116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Ensembling</a:t>
            </a:r>
            <a:r>
              <a:rPr lang="en-US" sz="2400" dirty="0"/>
              <a:t> the trees</a:t>
            </a:r>
          </a:p>
        </p:txBody>
      </p:sp>
    </p:spTree>
    <p:extLst>
      <p:ext uri="{BB962C8B-B14F-4D97-AF65-F5344CB8AC3E}">
        <p14:creationId xmlns:p14="http://schemas.microsoft.com/office/powerpoint/2010/main" val="19160775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147941"/>
              </p:ext>
            </p:extLst>
          </p:nvPr>
        </p:nvGraphicFramePr>
        <p:xfrm>
          <a:off x="612775" y="137795"/>
          <a:ext cx="4216400" cy="93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??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3" name="Left Arrow 2"/>
          <p:cNvSpPr/>
          <p:nvPr/>
        </p:nvSpPr>
        <p:spPr>
          <a:xfrm>
            <a:off x="5105400" y="137160"/>
            <a:ext cx="2463800" cy="9296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307068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Color = 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400" y="20690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600" y="2069068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91200" y="3135868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0.3,-0.7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7600" y="3135868"/>
            <a:ext cx="15240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0.3,0.3,0.3</a:t>
            </a:r>
          </a:p>
        </p:txBody>
      </p:sp>
      <p:cxnSp>
        <p:nvCxnSpPr>
          <p:cNvPr id="9" name="Straight Arrow Connector 8"/>
          <p:cNvCxnSpPr>
            <a:stCxn id="4" idx="2"/>
          </p:cNvCxnSpPr>
          <p:nvPr/>
        </p:nvCxnSpPr>
        <p:spPr>
          <a:xfrm flipH="1">
            <a:off x="5410200" y="1688068"/>
            <a:ext cx="7620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</p:cNvCxnSpPr>
          <p:nvPr/>
        </p:nvCxnSpPr>
        <p:spPr>
          <a:xfrm>
            <a:off x="6172200" y="1688068"/>
            <a:ext cx="9398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 flipH="1">
            <a:off x="6477000" y="2450068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8" idx="0"/>
          </p:cNvCxnSpPr>
          <p:nvPr/>
        </p:nvCxnSpPr>
        <p:spPr>
          <a:xfrm>
            <a:off x="7112000" y="2450068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05400" y="24500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168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09800" y="1219200"/>
            <a:ext cx="1600200" cy="5715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0" dirty="0">
                <a:solidFill>
                  <a:schemeClr val="tx1"/>
                </a:solidFill>
              </a:rPr>
              <a:t>Log(odds) = 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0" y="1219200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130706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800600" y="121920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38800" y="4191000"/>
            <a:ext cx="13716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&lt; 66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9530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0" y="4953000"/>
            <a:ext cx="15748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Age &gt; 37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6019800"/>
            <a:ext cx="13716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-0.5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6019800"/>
            <a:ext cx="2438400" cy="3810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0.1, -0.1, 0.1, 0.1</a:t>
            </a:r>
          </a:p>
        </p:txBody>
      </p:sp>
      <p:cxnSp>
        <p:nvCxnSpPr>
          <p:cNvPr id="25" name="Straight Arrow Connector 24"/>
          <p:cNvCxnSpPr>
            <a:stCxn id="20" idx="2"/>
            <a:endCxn id="22" idx="0"/>
          </p:cNvCxnSpPr>
          <p:nvPr/>
        </p:nvCxnSpPr>
        <p:spPr>
          <a:xfrm flipH="1">
            <a:off x="5664200" y="4572000"/>
            <a:ext cx="6604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2"/>
            <a:endCxn id="21" idx="0"/>
          </p:cNvCxnSpPr>
          <p:nvPr/>
        </p:nvCxnSpPr>
        <p:spPr>
          <a:xfrm>
            <a:off x="6324600" y="4572000"/>
            <a:ext cx="9906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2"/>
            <a:endCxn id="23" idx="0"/>
          </p:cNvCxnSpPr>
          <p:nvPr/>
        </p:nvCxnSpPr>
        <p:spPr>
          <a:xfrm flipH="1">
            <a:off x="5029200" y="5334000"/>
            <a:ext cx="6350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715000" y="5334000"/>
            <a:ext cx="1117600" cy="685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86600" y="5334000"/>
            <a:ext cx="38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640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6400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2400" y="4114800"/>
            <a:ext cx="342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4202668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953000" y="411480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2743200"/>
            <a:ext cx="3124200" cy="2308324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Log(odds) prediction</a:t>
            </a:r>
          </a:p>
          <a:p>
            <a:r>
              <a:rPr lang="en-US" dirty="0"/>
              <a:t>= 0.7 + 0.8 × 1.4 + 0.8  × 0.6 </a:t>
            </a:r>
          </a:p>
          <a:p>
            <a:r>
              <a:rPr lang="en-US" dirty="0"/>
              <a:t>= 2.3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Inferred Probability</a:t>
            </a:r>
          </a:p>
          <a:p>
            <a:r>
              <a:rPr lang="en-US" dirty="0"/>
              <a:t>1/(1+e</a:t>
            </a:r>
            <a:r>
              <a:rPr lang="en-US" baseline="30000" dirty="0"/>
              <a:t>-2.3</a:t>
            </a:r>
            <a:r>
              <a:rPr lang="en-US" dirty="0"/>
              <a:t>) = 0.9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Loves CSE471 !!</a:t>
            </a:r>
          </a:p>
        </p:txBody>
      </p:sp>
    </p:spTree>
    <p:extLst>
      <p:ext uri="{BB962C8B-B14F-4D97-AF65-F5344CB8AC3E}">
        <p14:creationId xmlns:p14="http://schemas.microsoft.com/office/powerpoint/2010/main" val="2792906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36700"/>
            <a:ext cx="802385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…</a:t>
            </a:r>
          </a:p>
        </p:txBody>
      </p:sp>
    </p:spTree>
    <p:extLst>
      <p:ext uri="{BB962C8B-B14F-4D97-AF65-F5344CB8AC3E}">
        <p14:creationId xmlns:p14="http://schemas.microsoft.com/office/powerpoint/2010/main" val="1809865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likelihood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60516"/>
              </p:ext>
            </p:extLst>
          </p:nvPr>
        </p:nvGraphicFramePr>
        <p:xfrm>
          <a:off x="228600" y="1676400"/>
          <a:ext cx="4216400" cy="186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3962400"/>
                <a:ext cx="7772400" cy="2538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Log(Likelihood of the observed data, given the predictions) =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 smtClean="0">
                              <a:latin typeface="Cambria Math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/>
                            </a:rPr>
                            <m:t>𝑵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 err="1"/>
                  <a:t>y</a:t>
                </a:r>
                <a:r>
                  <a:rPr lang="en-US" baseline="-25000" dirty="0" err="1"/>
                  <a:t>i</a:t>
                </a:r>
                <a:r>
                  <a:rPr lang="en-US" baseline="-25000" dirty="0"/>
                  <a:t> </a:t>
                </a:r>
                <a:r>
                  <a:rPr lang="en-US" dirty="0"/>
                  <a:t>is the observed value</a:t>
                </a:r>
                <a:endParaRPr lang="en-US" baseline="-25000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Here p refers to predicted probability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dirty="0"/>
                  <a:t>We want to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:r>
                  <a:rPr lang="en-US" dirty="0"/>
                  <a:t>Maximize log likelihood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:r>
                  <a:rPr lang="en-US" dirty="0"/>
                  <a:t>Minimize negative log likelihood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962400"/>
                <a:ext cx="7772400" cy="2538644"/>
              </a:xfrm>
              <a:prstGeom prst="rect">
                <a:avLst/>
              </a:prstGeom>
              <a:blipFill rotWithShape="1">
                <a:blip r:embed="rId2"/>
                <a:stretch>
                  <a:fillRect l="-549" t="-1202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152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log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Negative log likelihood for one sample</a:t>
                </a:r>
                <a:endParaRPr lang="en-US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/>
                      </a:rPr>
                      <m:t>−[</m:t>
                    </m:r>
                    <m:r>
                      <a:rPr lang="en-US" b="1" i="0" smtClean="0">
                        <a:latin typeface="Cambria Math"/>
                      </a:rPr>
                      <m:t>𝐲</m:t>
                    </m:r>
                    <m:r>
                      <a:rPr lang="en-US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 smtClean="0"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𝟏</m:t>
                        </m:r>
                        <m:r>
                          <a:rPr lang="en-US" b="1" i="1">
                            <a:latin typeface="Cambria Math"/>
                          </a:rPr>
                          <m:t>−</m:t>
                        </m:r>
                        <m:r>
                          <a:rPr lang="en-US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b="1" i="1" smtClean="0">
                        <a:latin typeface="Cambria Math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𝒐𝒃𝒔𝒆𝒓𝒗𝒆𝒅</m:t>
                        </m:r>
                        <m:r>
                          <a:rPr lang="en-US" sz="2400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4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𝒑</m:t>
                            </m:r>
                          </m:e>
                        </m:d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𝒐𝒃𝒔𝒆𝒓𝒗𝒆𝒅</m:t>
                            </m:r>
                          </m:e>
                        </m:d>
                        <m:r>
                          <a:rPr lang="en-US" sz="2400" b="1" i="1" smtClean="0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4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𝒑</m:t>
                            </m:r>
                          </m:e>
                        </m:d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𝒐𝒃𝒔𝒆𝒓𝒗𝒆𝒅</m:t>
                        </m:r>
                      </m:e>
                    </m:d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=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]</m:t>
                    </m:r>
                    <m:r>
                      <a:rPr lang="en-US" sz="2400" b="1" i="1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=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r>
                      <a:rPr lang="en-US" sz="2400" b="1" i="1" smtClean="0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/>
                          </a:rPr>
                          <m:t>𝒑</m:t>
                        </m:r>
                      </m:num>
                      <m:den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/>
                          </a:rPr>
                          <m:t>𝒑</m:t>
                        </m:r>
                      </m:den>
                    </m:f>
                    <m:r>
                      <a:rPr lang="en-US" sz="2400" b="1" i="1" smtClean="0">
                        <a:latin typeface="Cambria Math"/>
                      </a:rPr>
                      <m:t>)</m:t>
                    </m:r>
                    <m:r>
                      <a:rPr lang="en-US" sz="2400" b="1" i="1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=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r>
                      <a:rPr lang="en-US" sz="2400" b="1" i="1">
                        <a:latin typeface="Cambria Math"/>
                      </a:rPr>
                      <m:t>(</m:t>
                    </m:r>
                    <m:r>
                      <a:rPr lang="en-US" sz="2400" b="1" i="1" smtClean="0">
                        <a:latin typeface="Cambria Math"/>
                      </a:rPr>
                      <m:t>𝒐𝒅𝒅𝒔</m:t>
                    </m:r>
                    <m:r>
                      <a:rPr lang="en-US" sz="2400" b="1" i="1">
                        <a:latin typeface="Cambria Math"/>
                      </a:rPr>
                      <m:t>)−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</m:oMath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1764" b="-35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982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log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  <m:r>
                          <a:rPr lang="en-US" sz="2400" b="1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en-US" sz="24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1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 smtClean="0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1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r>
                      <a:rPr lang="en-US" sz="2400" b="1" i="1" smtClean="0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400" b="1" i="1" smtClean="0">
                        <a:latin typeface="Cambria Math"/>
                      </a:rPr>
                      <m:t>−</m:t>
                    </m:r>
                    <m:r>
                      <a:rPr lang="en-US" sz="2400" b="1" i="1" smtClean="0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sz="2400" b="1" i="1" smtClean="0">
                        <a:latin typeface="Cambria Math"/>
                      </a:rPr>
                      <m:t>=</m:t>
                    </m:r>
                    <m:r>
                      <a:rPr lang="en-US" sz="2400" b="1" i="1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800" b="1" dirty="0"/>
              </a:p>
              <a:p>
                <a:r>
                  <a:rPr lang="en-US" dirty="0"/>
                  <a:t>Negative log likelihood</a:t>
                </a:r>
              </a:p>
              <a:p>
                <a:pPr marL="0" indent="0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/>
                      </a:rPr>
                      <m:t>−</m:t>
                    </m:r>
                    <m:r>
                      <a:rPr lang="en-US" sz="2800" b="1" i="1">
                        <a:latin typeface="Cambria Math"/>
                      </a:rPr>
                      <m:t>𝒐𝒃𝒔𝒆𝒓𝒗𝒆𝒅</m:t>
                    </m:r>
                    <m:r>
                      <a:rPr lang="en-US" sz="2800" b="1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28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8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1" i="1">
                            <a:latin typeface="Cambria Math"/>
                          </a:rPr>
                          <m:t>𝒐𝒅𝒅𝒔</m:t>
                        </m:r>
                      </m:e>
                    </m:d>
                    <m:r>
                      <a:rPr lang="en-US" sz="2800" b="1" i="1" smtClean="0">
                        <a:latin typeface="Cambria Math"/>
                      </a:rPr>
                      <m:t>+</m:t>
                    </m:r>
                    <m:r>
                      <a:rPr lang="en-US" sz="2400" b="1" i="1">
                        <a:latin typeface="Cambria Math"/>
                      </a:rPr>
                      <m:t>𝒍𝒐𝒈</m:t>
                    </m:r>
                    <m:d>
                      <m:dPr>
                        <m:ctrlPr>
                          <a:rPr lang="en-US" sz="24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362200" y="4038600"/>
            <a:ext cx="4267200" cy="1295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Loss Function</a:t>
            </a:r>
          </a:p>
        </p:txBody>
      </p:sp>
    </p:spTree>
    <p:extLst>
      <p:ext uri="{BB962C8B-B14F-4D97-AF65-F5344CB8AC3E}">
        <p14:creationId xmlns:p14="http://schemas.microsoft.com/office/powerpoint/2010/main" val="7336026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of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sz="2400" b="0" i="1" smtClean="0">
                            <a:latin typeface="Cambria Math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log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⁡(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𝑜𝑑𝑑𝑠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</a:rPr>
                          <m:t>𝒐𝒃𝒔𝒆𝒓𝒗𝒆𝒅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sz="24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𝒐𝒅𝒅𝒔</m:t>
                            </m:r>
                          </m:e>
                        </m:d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r>
                          <a:rPr lang="en-US" sz="20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0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0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0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en-US" sz="2400" b="1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𝒐𝒅𝒅𝒔</m:t>
                            </m:r>
                          </m:e>
                        </m:d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800" dirty="0"/>
                  <a:t>=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400" b="1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/>
                      </a:rPr>
                      <m:t>−</m:t>
                    </m:r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 smtClean="0">
                        <a:latin typeface="Cambria Math"/>
                      </a:rPr>
                      <m:t>+</m:t>
                    </m:r>
                    <m:r>
                      <a:rPr lang="en-US" sz="2400" b="1" i="1" smtClean="0">
                        <a:latin typeface="Cambria Math"/>
                      </a:rPr>
                      <m:t>𝒑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The derivative of the loss function can be represented as a function of </a:t>
                </a:r>
                <a:r>
                  <a:rPr lang="en-US" sz="2800" i="1" dirty="0"/>
                  <a:t>log(odds)</a:t>
                </a:r>
                <a:r>
                  <a:rPr lang="en-US" sz="2800" dirty="0"/>
                  <a:t> as well as predicted probability </a:t>
                </a:r>
                <a:r>
                  <a:rPr lang="en-US" sz="2800" i="1" dirty="0"/>
                  <a:t>p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571" r="-1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9836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a:rPr lang="en-US" b="0" i="1" smtClean="0">
                            <a:latin typeface="Cambria Math"/>
                          </a:rPr>
                          <m:t>𝑎𝑟𝑔</m:t>
                        </m:r>
                        <m:limLow>
                          <m:limLow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min</m:t>
                            </m:r>
                          </m:e>
                          <m:lim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p>
                          <m:e>
                            <m:r>
                              <a:rPr lang="en-US" i="1">
                                <a:latin typeface="Cambria Math"/>
                              </a:rPr>
                              <m:t>𝐿</m:t>
                            </m:r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,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For the 3 data points, total loss is:</a:t>
                </a:r>
              </a:p>
              <a:p>
                <a:pPr marL="0" indent="0">
                  <a:buNone/>
                </a:pPr>
                <a:r>
                  <a:rPr lang="en-US" dirty="0"/>
                  <a:t>-1×</a:t>
                </a:r>
                <a:r>
                  <a:rPr lang="en-US" i="1" dirty="0"/>
                  <a:t>log(odds) + log(1+e</a:t>
                </a:r>
                <a:r>
                  <a:rPr lang="en-US" i="1" baseline="30000" dirty="0"/>
                  <a:t>log(odds)</a:t>
                </a:r>
                <a:r>
                  <a:rPr lang="en-US" i="1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-1×</a:t>
                </a:r>
                <a:r>
                  <a:rPr lang="en-US" i="1" dirty="0"/>
                  <a:t>log(odds) + log(1+e</a:t>
                </a:r>
                <a:r>
                  <a:rPr lang="en-US" i="1" baseline="30000" dirty="0"/>
                  <a:t>log(odds)</a:t>
                </a:r>
                <a:r>
                  <a:rPr lang="en-US" i="1" dirty="0"/>
                  <a:t>)</a:t>
                </a:r>
                <a:endParaRPr lang="en-US" i="1" baseline="30000" dirty="0"/>
              </a:p>
              <a:p>
                <a:pPr marL="0" indent="0">
                  <a:buNone/>
                </a:pPr>
                <a:r>
                  <a:rPr lang="en-US" dirty="0"/>
                  <a:t>-0×</a:t>
                </a:r>
                <a:r>
                  <a:rPr lang="en-US" i="1" dirty="0"/>
                  <a:t>log(odds) + log(1+e</a:t>
                </a:r>
                <a:r>
                  <a:rPr lang="en-US" i="1" baseline="30000" dirty="0"/>
                  <a:t>log(odds)</a:t>
                </a:r>
                <a:r>
                  <a:rPr lang="en-US" i="1" dirty="0"/>
                  <a:t>)</a:t>
                </a:r>
              </a:p>
              <a:p>
                <a:r>
                  <a:rPr lang="en-US" i="1" dirty="0"/>
                  <a:t>Taking derivative w.r.t log(odds) and equating to 0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−1+</m:t>
                    </m:r>
                    <m:f>
                      <m:fPr>
                        <m:ctrlPr>
                          <a:rPr lang="en-US" sz="3600" b="1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/>
                          </a:rPr>
                          <m:t>𝟏</m:t>
                        </m:r>
                        <m:r>
                          <a:rPr lang="en-US" sz="28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en-US" sz="2800" i="1">
                        <a:latin typeface="Cambria Math"/>
                      </a:rPr>
                      <m:t>−1+</m:t>
                    </m:r>
                    <m:f>
                      <m:fPr>
                        <m:ctrlPr>
                          <a:rPr lang="en-US" sz="3600" b="1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/>
                          </a:rPr>
                          <m:t>𝟏</m:t>
                        </m:r>
                        <m:r>
                          <a:rPr lang="en-US" sz="28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−</m:t>
                    </m:r>
                    <m:r>
                      <a:rPr lang="en-US" sz="2800" b="0" i="1" smtClean="0">
                        <a:latin typeface="Cambria Math"/>
                      </a:rPr>
                      <m:t>0</m:t>
                    </m:r>
                    <m:r>
                      <a:rPr lang="en-US" sz="2800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3600" b="1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800" b="1" i="1">
                            <a:latin typeface="Cambria Math"/>
                          </a:rPr>
                          <m:t>𝟏</m:t>
                        </m:r>
                        <m:r>
                          <a:rPr lang="en-US" sz="28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8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US" sz="2800" i="1" dirty="0"/>
              </a:p>
              <a:p>
                <a:pPr marL="0" indent="0">
                  <a:buNone/>
                </a:pPr>
                <a:r>
                  <a:rPr lang="en-US" sz="2800" i="1" dirty="0"/>
                  <a:t>= -1+p-1+p-0+p = -2 +3p = 0</a:t>
                </a:r>
              </a:p>
              <a:p>
                <a:pPr marL="0" indent="0">
                  <a:buNone/>
                </a:pPr>
                <a:endParaRPr lang="en-US" sz="2800" i="1" dirty="0"/>
              </a:p>
              <a:p>
                <a:pPr marL="0" indent="0">
                  <a:buNone/>
                </a:pPr>
                <a:r>
                  <a:rPr lang="en-US" sz="3800" b="1" i="1" dirty="0"/>
                  <a:t>Therefore, p = 2/3</a:t>
                </a:r>
              </a:p>
              <a:p>
                <a:pPr marL="0" indent="0">
                  <a:buNone/>
                </a:pPr>
                <a:endParaRPr lang="en-US" sz="28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945" t="-13433" b="-9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40236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𝑜𝑑𝑑𝑠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type m:val="skw"/>
                                    <m:ctrlPr>
                                      <a:rPr lang="en-US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1−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𝑜𝑑𝑑𝑠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𝛾</m:t>
                    </m:r>
                  </m:oMath>
                </a14:m>
                <a:r>
                  <a:rPr lang="en-US" dirty="0"/>
                  <a:t> that minimizes loss is log(2)</a:t>
                </a:r>
              </a:p>
              <a:p>
                <a:r>
                  <a:rPr lang="en-US" dirty="0"/>
                  <a:t>F</a:t>
                </a:r>
                <a:r>
                  <a:rPr lang="en-US" baseline="-25000" dirty="0"/>
                  <a:t>0</a:t>
                </a:r>
                <a:r>
                  <a:rPr lang="en-US" dirty="0"/>
                  <a:t>(x) = log(2)=0.69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4800600" y="3314700"/>
            <a:ext cx="1600200" cy="571500"/>
          </a:xfrm>
          <a:prstGeom prst="roundRect">
            <a:avLst/>
          </a:prstGeom>
          <a:solidFill>
            <a:srgbClr val="00B050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0" dirty="0">
                <a:solidFill>
                  <a:schemeClr val="tx1"/>
                </a:solidFill>
              </a:rPr>
              <a:t>Log(odds) = 0.69</a:t>
            </a:r>
          </a:p>
        </p:txBody>
      </p:sp>
    </p:spTree>
    <p:extLst>
      <p:ext uri="{BB962C8B-B14F-4D97-AF65-F5344CB8AC3E}">
        <p14:creationId xmlns:p14="http://schemas.microsoft.com/office/powerpoint/2010/main" val="35357872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2895600"/>
                <a:ext cx="8153400" cy="2133600"/>
              </a:xfrm>
            </p:spPr>
            <p:txBody>
              <a:bodyPr/>
              <a:lstStyle/>
              <a:p>
                <a:r>
                  <a:rPr lang="en-US" dirty="0"/>
                  <a:t>Observed – p=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/>
                      </a:rPr>
                      <m:t>𝒐𝒃𝒔𝒆𝒓𝒗𝒆𝒅</m:t>
                    </m:r>
                    <m:r>
                      <a:rPr lang="en-US" sz="2400" b="1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1,1</a:t>
                </a:r>
                <a:r>
                  <a:rPr lang="en-US" sz="2400" dirty="0"/>
                  <a:t>=1 - 0.67 = 0.33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2,1</a:t>
                </a:r>
                <a:r>
                  <a:rPr lang="en-US" sz="2400" dirty="0"/>
                  <a:t>=1 - 0.67 = 0.33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3,1</a:t>
                </a:r>
                <a:r>
                  <a:rPr lang="en-US" sz="2400" dirty="0"/>
                  <a:t>=0 - 0.67 = -0.67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2895600"/>
                <a:ext cx="8153400" cy="2133600"/>
              </a:xfrm>
              <a:blipFill rotWithShape="1">
                <a:blip r:embed="rId2"/>
                <a:stretch>
                  <a:fillRect l="-449" b="-45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49456"/>
            <a:ext cx="6524625" cy="1269944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694800"/>
              </p:ext>
            </p:extLst>
          </p:nvPr>
        </p:nvGraphicFramePr>
        <p:xfrm>
          <a:off x="5743575" y="5235575"/>
          <a:ext cx="3400425" cy="1609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195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44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Likes Popcorn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Favorite Color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Loves CSE471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Blue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991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504" y="228600"/>
            <a:ext cx="8153400" cy="990600"/>
          </a:xfrm>
        </p:spPr>
        <p:txBody>
          <a:bodyPr/>
          <a:lstStyle/>
          <a:p>
            <a:r>
              <a:rPr lang="en-US" dirty="0"/>
              <a:t>Step 2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" y="1600200"/>
            <a:ext cx="8429625" cy="971550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85800" y="2971800"/>
            <a:ext cx="15748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Likes popcorn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186" y="3733800"/>
            <a:ext cx="1166813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6400" y="3733800"/>
            <a:ext cx="1143000" cy="38100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</a:rPr>
              <a:t>0.33,-0.7</a:t>
            </a:r>
          </a:p>
        </p:txBody>
      </p:sp>
      <p:cxnSp>
        <p:nvCxnSpPr>
          <p:cNvPr id="10" name="Straight Arrow Connector 9"/>
          <p:cNvCxnSpPr>
            <a:stCxn id="7" idx="2"/>
            <a:endCxn id="8" idx="0"/>
          </p:cNvCxnSpPr>
          <p:nvPr/>
        </p:nvCxnSpPr>
        <p:spPr>
          <a:xfrm flipH="1">
            <a:off x="940593" y="3352800"/>
            <a:ext cx="532607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2"/>
            <a:endCxn id="9" idx="0"/>
          </p:cNvCxnSpPr>
          <p:nvPr/>
        </p:nvCxnSpPr>
        <p:spPr>
          <a:xfrm>
            <a:off x="1473200" y="3352800"/>
            <a:ext cx="774700" cy="381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904" y="4114800"/>
            <a:ext cx="67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1,1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114800"/>
            <a:ext cx="67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2,1</a:t>
            </a:r>
          </a:p>
        </p:txBody>
      </p:sp>
    </p:spTree>
    <p:extLst>
      <p:ext uri="{BB962C8B-B14F-4D97-AF65-F5344CB8AC3E}">
        <p14:creationId xmlns:p14="http://schemas.microsoft.com/office/powerpoint/2010/main" val="12681768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00200"/>
                <a:ext cx="8153400" cy="1905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(C) For j=1 … </a:t>
                </a:r>
                <a:r>
                  <a:rPr lang="en-US" dirty="0" err="1"/>
                  <a:t>J</a:t>
                </a:r>
                <a:r>
                  <a:rPr lang="en-US" baseline="-25000" dirty="0" err="1"/>
                  <a:t>m</a:t>
                </a:r>
                <a:r>
                  <a:rPr lang="en-US" baseline="-25000" dirty="0"/>
                  <a:t> </a:t>
                </a:r>
                <a:r>
                  <a:rPr lang="en-US" dirty="0"/>
                  <a:t>compute</a:t>
                </a:r>
                <a:endParaRPr lang="en-US" baseline="-25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𝑗𝑚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argmin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𝑚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1,1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/>
                              </a:rPr>
                              <m:t>argmin</m:t>
                            </m:r>
                          </m:e>
                          <m:lim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lim>
                        </m:limLow>
                      </m:fName>
                      <m:e>
                        <m:d>
                          <m:dPr>
                            <m:endChr m:val="]"/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  <a:ea typeface="Cambria Math"/>
                          </a:rPr>
                          <m:t>log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⁡(1+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))</m:t>
                        </m:r>
                      </m:e>
                    </m:func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00200"/>
                <a:ext cx="8153400" cy="1905000"/>
              </a:xfrm>
              <a:blipFill rotWithShape="1">
                <a:blip r:embed="rId3"/>
                <a:stretch>
                  <a:fillRect l="-1570" t="-3205" b="-29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3452313"/>
            <a:ext cx="8743950" cy="11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705350"/>
            <a:ext cx="8429625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0450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667000"/>
            <a:ext cx="8153400" cy="1600200"/>
          </a:xfrm>
        </p:spPr>
        <p:txBody>
          <a:bodyPr/>
          <a:lstStyle/>
          <a:p>
            <a:r>
              <a:rPr lang="en-US" dirty="0"/>
              <a:t>Equating to 0 and solving for gamma</a:t>
            </a:r>
          </a:p>
          <a:p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00199"/>
            <a:ext cx="6600825" cy="96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3352800"/>
            <a:ext cx="3181350" cy="161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auto">
              <a:xfrm>
                <a:off x="457200" y="5105400"/>
                <a:ext cx="8153400" cy="160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19088" indent="-319088" algn="l" rtl="0" eaLnBrk="0" fontAlgn="base" hangingPunct="0">
                  <a:spcBef>
                    <a:spcPts val="7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"/>
                  <a:defRPr sz="2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39763" indent="-273050" algn="l" rtl="0" eaLnBrk="0" fontAlgn="base" hangingPunct="0">
                  <a:spcBef>
                    <a:spcPts val="550"/>
                  </a:spcBef>
                  <a:spcAft>
                    <a:spcPct val="0"/>
                  </a:spcAft>
                  <a:buClr>
                    <a:schemeClr val="accent1"/>
                  </a:buClr>
                  <a:buSzPct val="70000"/>
                  <a:buFont typeface="Wingdings 2" pitchFamily="18" charset="2"/>
                  <a:buChar char="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5000"/>
                  <a:buFont typeface="Wingdings" pitchFamily="2" charset="2"/>
                  <a:buChar char=""/>
                  <a:defRPr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A5AB81"/>
                  </a:buClr>
                  <a:buSzPct val="75000"/>
                  <a:buFont typeface="Wingdings" pitchFamily="2" charset="2"/>
                  <a:buChar char="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D8B25C"/>
                  </a:buClr>
                  <a:buSzPct val="65000"/>
                  <a:buFont typeface="Wingdings" pitchFamily="2" charset="2"/>
                  <a:buChar char="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03120" indent="-22860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377440" indent="-22860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651760" indent="-22860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26080" indent="-228600" algn="l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Wingdings"/>
                  <a:buChar char="§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𝑂𝑏𝑠𝑒𝑟𝑣𝑒𝑑</m:t>
                        </m:r>
                        <m:r>
                          <a:rPr lang="en-US" b="0" i="1" smtClean="0">
                            <a:latin typeface="Cambria Math"/>
                          </a:rPr>
                          <m:t> −</m:t>
                        </m:r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𝑑𝐹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/>
                            </m:d>
                          </m:den>
                        </m:f>
                        <m:r>
                          <a:rPr lang="en-US" b="0" i="1" smtClean="0">
                            <a:latin typeface="Cambria Math"/>
                          </a:rPr>
                          <m:t>(−</m:t>
                        </m:r>
                        <m:r>
                          <a:rPr lang="en-US" b="0" i="1" smtClean="0">
                            <a:latin typeface="Cambria Math"/>
                          </a:rPr>
                          <m:t>𝑂𝑏𝑠𝑒𝑟𝑣𝑒𝑑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𝑝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105400"/>
                <a:ext cx="8153400" cy="1600200"/>
              </a:xfrm>
              <a:prstGeom prst="rect">
                <a:avLst/>
              </a:prstGeom>
              <a:blipFill rotWithShape="1">
                <a:blip r:embed="rId4"/>
                <a:stretch>
                  <a:fillRect l="-15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764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𝑑𝐹</m:t>
                        </m:r>
                        <m:d>
                          <m:dPr>
                            <m:ctrlPr>
                              <a:rPr lang="en-US" i="1">
                                <a:latin typeface="Cambria Math"/>
                              </a:rPr>
                            </m:ctrlPr>
                          </m:dPr>
                          <m:e/>
                        </m:d>
                      </m:den>
                    </m:f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𝑂𝑏𝑠𝑒𝑟𝑣𝑒𝑑</m:t>
                        </m:r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log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⁡(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𝑜𝑑𝑑𝑠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−</m:t>
                        </m:r>
                        <m:r>
                          <a:rPr lang="en-US" sz="2400" i="1">
                            <a:latin typeface="Cambria Math"/>
                          </a:rPr>
                          <m:t>𝑂𝑏𝑠𝑒𝑟𝑣𝑒𝑑</m:t>
                        </m:r>
                        <m:r>
                          <a:rPr lang="en-US" sz="2400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400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en-US" sz="2400" b="1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24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24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400" b="1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1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sz="2400" b="1" i="1">
                            <a:latin typeface="Cambria Math"/>
                          </a:rPr>
                          <m:t>𝒍𝒐𝒈</m:t>
                        </m:r>
                        <m:d>
                          <m:dPr>
                            <m:ctrlPr>
                              <a:rPr lang="en-US" sz="2400" b="1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/>
                              </a:rPr>
                              <m:t>𝒐𝒅𝒅𝒔</m:t>
                            </m:r>
                          </m:e>
                        </m:d>
                      </m:sup>
                    </m:s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32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40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4000" b="1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4000" b="1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sz="4000" b="1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000" b="1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4000" b="1" i="1"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4000" b="1" i="1">
                                    <a:latin typeface="Cambria Math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sz="4000" b="1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b="1" i="1">
                                        <a:latin typeface="Cambria Math"/>
                                      </a:rPr>
                                      <m:t>𝒐𝒅𝒅𝒔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4000" b="1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4000" b="1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/>
                      </a:rPr>
                      <m:t>p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×</m:t>
                    </m:r>
                    <m:f>
                      <m:fPr>
                        <m:ctrlPr>
                          <a:rPr lang="en-US" sz="32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sz="3200" b="1" i="1">
                            <a:latin typeface="Cambria Math"/>
                          </a:rPr>
                          <m:t>𝟏</m:t>
                        </m:r>
                        <m:r>
                          <a:rPr lang="en-US" sz="3200" b="1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/>
                              </a:rPr>
                              <m:t>𝒍𝒐𝒈</m:t>
                            </m:r>
                            <m:d>
                              <m:dPr>
                                <m:ctrlPr>
                                  <a:rPr lang="en-US" sz="3200" b="1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/>
                                  </a:rPr>
                                  <m:t>𝒐𝒅𝒅𝒔</m:t>
                                </m:r>
                              </m:e>
                            </m:d>
                          </m:sup>
                        </m:sSup>
                      </m:den>
                    </m:f>
                    <m:r>
                      <a:rPr lang="en-US" sz="3200" b="1" i="1" smtClean="0">
                        <a:latin typeface="Cambria Math"/>
                      </a:rPr>
                      <m:t>=</m:t>
                    </m:r>
                    <m:r>
                      <a:rPr lang="en-US" sz="3200" b="1" i="1" smtClean="0">
                        <a:latin typeface="Cambria Math"/>
                      </a:rPr>
                      <m:t>𝒑</m:t>
                    </m:r>
                    <m:r>
                      <a:rPr lang="en-US" sz="3200" b="1" i="1" smtClean="0">
                        <a:latin typeface="Cambria Math"/>
                        <a:ea typeface="Cambria Math"/>
                      </a:rPr>
                      <m:t>×(</m:t>
                    </m:r>
                    <m:r>
                      <a:rPr lang="en-US" sz="3200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3200" b="1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3200" b="1" i="1" smtClean="0">
                        <a:latin typeface="Cambria Math"/>
                        <a:ea typeface="Cambria Math"/>
                      </a:rPr>
                      <m:t>𝒑</m:t>
                    </m:r>
                    <m:r>
                      <a:rPr lang="en-US" sz="32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𝑇h𝑒𝑟𝑒𝑓𝑜𝑟𝑒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𝑜𝑝𝑡𝑖𝑚𝑎𝑙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𝛄</m:t>
                    </m:r>
                    <m:r>
                      <a:rPr lang="en-US" sz="2400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/>
                            <a:ea typeface="Cambria Math"/>
                          </a:rPr>
                          <m:t>𝑹𝒆𝒔𝒊𝒅𝒖𝒂𝒍</m:t>
                        </m:r>
                      </m:num>
                      <m:den>
                        <m:r>
                          <a:rPr lang="en-US" sz="2400" b="1" i="1">
                            <a:latin typeface="Cambria Math"/>
                          </a:rPr>
                          <m:t>𝒑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×(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𝒑</m:t>
                        </m:r>
                        <m:r>
                          <a:rPr lang="en-US" sz="2400" b="1" i="1">
                            <a:latin typeface="Cambria Math"/>
                            <a:ea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421" b="-14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593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Reference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https://www.youtube.com/watch?v=3CC4N4z3GJc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https://www.youtube.com/watch?v=jxuNLH5dXCs</a:t>
            </a:r>
            <a:endParaRPr lang="en-US" dirty="0"/>
          </a:p>
          <a:p>
            <a:r>
              <a:rPr lang="en-US" dirty="0">
                <a:hlinkClick r:id="rId4"/>
              </a:rPr>
              <a:t>https://www.youtube.com/watch?v=StWY5QWMXCw&amp;t=837s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835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17731</TotalTime>
  <Words>3375</Words>
  <Application>Microsoft Office PowerPoint</Application>
  <PresentationFormat>On-screen Show (4:3)</PresentationFormat>
  <Paragraphs>997</Paragraphs>
  <Slides>57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Median</vt:lpstr>
      <vt:lpstr>CSE 471: Machine learning</vt:lpstr>
      <vt:lpstr>Example: Will we wait for a table?</vt:lpstr>
      <vt:lpstr>Will we wait for a table?</vt:lpstr>
      <vt:lpstr>Will we wait for a table?</vt:lpstr>
      <vt:lpstr>How to select the best attribute?</vt:lpstr>
      <vt:lpstr>Decision tree algorithm</vt:lpstr>
      <vt:lpstr>The resulting tree</vt:lpstr>
      <vt:lpstr>Decision Tree Pruning</vt:lpstr>
      <vt:lpstr>Irrelevant Test Detection</vt:lpstr>
      <vt:lpstr>chi-squred pruning</vt:lpstr>
      <vt:lpstr>Chi-square distribution table</vt:lpstr>
      <vt:lpstr>Early stopping</vt:lpstr>
      <vt:lpstr>Early stopping</vt:lpstr>
      <vt:lpstr>Handling continuous attributes</vt:lpstr>
      <vt:lpstr>Decision Tree Regression</vt:lpstr>
      <vt:lpstr>Pros and Cons of Decision Trees</vt:lpstr>
      <vt:lpstr>Boosting</vt:lpstr>
      <vt:lpstr>Gradient Boosting (Regression)</vt:lpstr>
      <vt:lpstr>Let us work with an example</vt:lpstr>
      <vt:lpstr>PowerPoint Presentation</vt:lpstr>
      <vt:lpstr>PowerPoint Presentation</vt:lpstr>
      <vt:lpstr>Ensemble of trees</vt:lpstr>
      <vt:lpstr>Ensemble of trees</vt:lpstr>
      <vt:lpstr>Learning rate</vt:lpstr>
      <vt:lpstr>Pseudo Residuals calculated</vt:lpstr>
      <vt:lpstr>Pseudo Residuals calculated</vt:lpstr>
      <vt:lpstr>Updated tree</vt:lpstr>
      <vt:lpstr>Updated tree</vt:lpstr>
      <vt:lpstr>Updated predictions</vt:lpstr>
      <vt:lpstr>PowerPoint Presentation</vt:lpstr>
      <vt:lpstr>Pseudo Residuals calculated</vt:lpstr>
      <vt:lpstr>PowerPoint Presentation</vt:lpstr>
      <vt:lpstr>Classification with Gradient Boosting</vt:lpstr>
      <vt:lpstr>PowerPoint Presentation</vt:lpstr>
      <vt:lpstr>Ensembling the trees</vt:lpstr>
      <vt:lpstr>Ensembling the trees</vt:lpstr>
      <vt:lpstr>Ensembling the trees</vt:lpstr>
      <vt:lpstr>Ensembling the trees</vt:lpstr>
      <vt:lpstr>Update the tree</vt:lpstr>
      <vt:lpstr>Ensembling the trees</vt:lpstr>
      <vt:lpstr>Ensembling the trees</vt:lpstr>
      <vt:lpstr>PowerPoint Presentation</vt:lpstr>
      <vt:lpstr>PowerPoint Presentation</vt:lpstr>
      <vt:lpstr>PowerPoint Presentation</vt:lpstr>
      <vt:lpstr>Formally …</vt:lpstr>
      <vt:lpstr>Log likelihood</vt:lpstr>
      <vt:lpstr>Negative log likelihood</vt:lpstr>
      <vt:lpstr>Negative log likelihood</vt:lpstr>
      <vt:lpstr>Derivative of Loss</vt:lpstr>
      <vt:lpstr>Initial Prediction</vt:lpstr>
      <vt:lpstr>Initial Prediction</vt:lpstr>
      <vt:lpstr>Step 2</vt:lpstr>
      <vt:lpstr>Step 2</vt:lpstr>
      <vt:lpstr>Step 2</vt:lpstr>
      <vt:lpstr>Step 2</vt:lpstr>
      <vt:lpstr>Step 2</vt:lpstr>
      <vt:lpstr>Gradient Boosting Reference</vt:lpstr>
    </vt:vector>
  </TitlesOfParts>
  <Company>UCSD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</dc:title>
  <dc:creator>Sophie Daudenarde</dc:creator>
  <cp:lastModifiedBy>ismail - [2010]</cp:lastModifiedBy>
  <cp:revision>479</cp:revision>
  <dcterms:created xsi:type="dcterms:W3CDTF">2004-05-24T21:30:51Z</dcterms:created>
  <dcterms:modified xsi:type="dcterms:W3CDTF">2026-01-06T03:58:07Z</dcterms:modified>
</cp:coreProperties>
</file>